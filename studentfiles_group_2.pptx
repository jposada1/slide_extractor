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8.xml"/>
  <Override ContentType="application/vnd.openxmlformats-officedocument.presentationml.comments+xml" PartName="/ppt/comments/comment10.xml"/>
  <Override ContentType="application/vnd.openxmlformats-officedocument.presentationml.comments+xml" PartName="/ppt/comments/comment23.xml"/>
  <Override ContentType="application/vnd.openxmlformats-officedocument.presentationml.comments+xml" PartName="/ppt/comments/comment36.xml"/>
  <Override ContentType="application/vnd.openxmlformats-officedocument.presentationml.comments+xml" PartName="/ppt/comments/comment6.xml"/>
  <Override ContentType="application/vnd.openxmlformats-officedocument.presentationml.comments+xml" PartName="/ppt/comments/comment31.xml"/>
  <Override ContentType="application/vnd.openxmlformats-officedocument.presentationml.comments+xml" PartName="/ppt/comments/comment19.xml"/>
  <Override ContentType="application/vnd.openxmlformats-officedocument.presentationml.comments+xml" PartName="/ppt/comments/comment32.xml"/>
  <Override ContentType="application/vnd.openxmlformats-officedocument.presentationml.comments+xml" PartName="/ppt/comments/comment37.xml"/>
  <Override ContentType="application/vnd.openxmlformats-officedocument.presentationml.comments+xml" PartName="/ppt/comments/comment24.xml"/>
  <Override ContentType="application/vnd.openxmlformats-officedocument.presentationml.comments+xml" PartName="/ppt/comments/comment15.xml"/>
  <Override ContentType="application/vnd.openxmlformats-officedocument.presentationml.comments+xml" PartName="/ppt/comments/comment35.xml"/>
  <Override ContentType="application/vnd.openxmlformats-officedocument.presentationml.comments+xml" PartName="/ppt/comments/comment2.xml"/>
  <Override ContentType="application/vnd.openxmlformats-officedocument.presentationml.comments+xml" PartName="/ppt/comments/comment22.xml"/>
  <Override ContentType="application/vnd.openxmlformats-officedocument.presentationml.comments+xml" PartName="/ppt/comments/comment7.xml"/>
  <Override ContentType="application/vnd.openxmlformats-officedocument.presentationml.comments+xml" PartName="/ppt/comments/comment18.xml"/>
  <Override ContentType="application/vnd.openxmlformats-officedocument.presentationml.comments+xml" PartName="/ppt/comments/comment40.xml"/>
  <Override ContentType="application/vnd.openxmlformats-officedocument.presentationml.comments+xml" PartName="/ppt/comments/comment14.xml"/>
  <Override ContentType="application/vnd.openxmlformats-officedocument.presentationml.comments+xml" PartName="/ppt/comments/comment27.xml"/>
  <Override ContentType="application/vnd.openxmlformats-officedocument.presentationml.comments+xml" PartName="/ppt/comments/comment17.xml"/>
  <Override ContentType="application/vnd.openxmlformats-officedocument.presentationml.comments+xml" PartName="/ppt/comments/comment8.xml"/>
  <Override ContentType="application/vnd.openxmlformats-officedocument.presentationml.comments+xml" PartName="/ppt/comments/comment21.xml"/>
  <Override ContentType="application/vnd.openxmlformats-officedocument.presentationml.comments+xml" PartName="/ppt/comments/comment34.xml"/>
  <Override ContentType="application/vnd.openxmlformats-officedocument.presentationml.comments+xml" PartName="/ppt/comments/comment20.xml"/>
  <Override ContentType="application/vnd.openxmlformats-officedocument.presentationml.comments+xml" PartName="/ppt/comments/comment3.xml"/>
  <Override ContentType="application/vnd.openxmlformats-officedocument.presentationml.comments+xml" PartName="/ppt/comments/comment39.xml"/>
  <Override ContentType="application/vnd.openxmlformats-officedocument.presentationml.comments+xml" PartName="/ppt/comments/comment26.xml"/>
  <Override ContentType="application/vnd.openxmlformats-officedocument.presentationml.comments+xml" PartName="/ppt/comments/comment13.xml"/>
  <Override ContentType="application/vnd.openxmlformats-officedocument.presentationml.comments+xml" PartName="/ppt/comments/comment16.xml"/>
  <Override ContentType="application/vnd.openxmlformats-officedocument.presentationml.comments+xml" PartName="/ppt/comments/comment11.xml"/>
  <Override ContentType="application/vnd.openxmlformats-officedocument.presentationml.comments+xml" PartName="/ppt/comments/comment5.xml"/>
  <Override ContentType="application/vnd.openxmlformats-officedocument.presentationml.comments+xml" PartName="/ppt/comments/comment30.xml"/>
  <Override ContentType="application/vnd.openxmlformats-officedocument.presentationml.comments+xml" PartName="/ppt/comments/comment33.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25.xml"/>
  <Override ContentType="application/vnd.openxmlformats-officedocument.presentationml.comments+xml" PartName="/ppt/comments/comment38.xml"/>
  <Override ContentType="application/vnd.openxmlformats-officedocument.presentationml.comments+xml" PartName="/ppt/comments/comment12.xml"/>
  <Override ContentType="application/vnd.openxmlformats-officedocument.presentationml.comments+xml" PartName="/ppt/comments/comment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3" name="Emma Shay"/>
  <p:cmAuthor clrIdx="1" id="1" initials="" lastIdx="15" name="Jennifer Posada"/>
  <p:cmAuthor clrIdx="2" id="2" initials="" lastIdx="9"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5T16:13:52.920">
    <p:pos x="3753" y="725"/>
    <p:text>Data Analysis and Interpretation</p:text>
  </p:cm>
  <p:cm authorId="1" idx="1" dt="2026-04-30T15:10:42.034">
    <p:pos x="3753" y="725"/>
    <p:text>SRL- performance</p:text>
  </p:cm>
  <p:cm authorId="1" idx="2" dt="2026-04-30T15:58:46.524">
    <p:pos x="3753" y="725"/>
    <p:text>visualizations for performance monitoring</p:text>
  </p:cm>
  <p:cm authorId="1" idx="3" dt="2026-05-05T16:13:52.920">
    <p:pos x="3753" y="725"/>
    <p:text>visualization inaccurate - feedback opportunity</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5-05T16:19:53.633">
    <p:pos x="3753" y="725"/>
    <p:text>Data Analysis and Interpretation</p:text>
  </p:cm>
  <p:cm authorId="0" idx="3" dt="2026-05-03T01:39:32.574">
    <p:pos x="3753" y="725"/>
    <p:text>visualizations for performance monitoring</p:text>
  </p:cm>
  <p:cm authorId="0" idx="4" dt="2026-05-05T16:19:53.633">
    <p:pos x="3753" y="725"/>
    <p:text>**Sensemaking of graph/ correlation  - what patterns are being identified (trends, outliers, etc.)</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5-05T16:25:32.932">
    <p:pos x="196" y="725"/>
    <p:text>Goal setting for behavior change</p:text>
  </p:cm>
  <p:cm authorId="0" idx="6" dt="2026-05-05T16:25:32.932">
    <p:pos x="196" y="725"/>
    <p:text>**Data Collection strategy reflection and changes</p:text>
  </p:cm>
  <p:cm authorId="0" idx="7" dt="2026-05-07T15:43:47.279">
    <p:pos x="196" y="825"/>
    <p:text>Insights from data collection</p:text>
  </p:cm>
  <p:cm authorId="0" idx="8" dt="2026-05-07T15:43:47.279">
    <p:pos x="196" y="825"/>
    <p:text>behavior awareness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5-05T16:28:08.801">
    <p:pos x="3534" y="361"/>
    <p:text>visualizations for performance monitoring</p:text>
  </p:cm>
  <p:cm authorId="0" idx="10" dt="2026-05-05T16:28:08.801">
    <p:pos x="3534" y="361"/>
    <p:text>**Sensemaking</p:text>
  </p:cm>
  <p:cm authorId="0" idx="11" dt="2026-05-05T16:29:27.786">
    <p:pos x="3534" y="461"/>
    <p:text>Performance Monitoring</p:text>
  </p:cm>
  <p:cm authorId="0" idx="12" dt="2026-05-05T16:29:27.786">
    <p:pos x="3534" y="461"/>
    <p:text>**Not consistent with data - teachable moment/feedback opportunity</p:text>
  </p:cm>
  <p:cm authorId="0" idx="13" dt="2026-05-05T16:36:34.856">
    <p:pos x="3534" y="561"/>
    <p:text>Reflection</p:text>
  </p:cm>
  <p:cm authorId="0" idx="14" dt="2026-05-05T16:34:05.794">
    <p:pos x="3534" y="561"/>
    <p:text>** Action plan - looking forward</p:text>
  </p:cm>
  <p:cm authorId="0" idx="15" dt="2026-05-05T16:36:34.856">
    <p:pos x="3534" y="561"/>
    <p:text>**Causual speculation</p:text>
  </p:cm>
  <p:cm authorId="1" idx="4" dt="2026-05-05T16:29:56.392">
    <p:pos x="3534" y="661"/>
    <p:text>feedback opportunity- narrative visualization inconsistency</p:text>
  </p:cm>
  <p:cm authorId="0" idx="16" dt="2026-05-05T16:35:09.775">
    <p:pos x="3534" y="761"/>
    <p:text>**Outlier recognition</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7" dt="2026-05-05T16:53:38.085">
    <p:pos x="196" y="725"/>
    <p:text>** Noticing consistency</p:text>
  </p:cm>
  <p:cm authorId="0" idx="18" dt="2026-05-05T16:58:36.680">
    <p:pos x="196" y="825"/>
    <p:text>Goal Setting</p:text>
  </p:cm>
  <p:cm authorId="0" idx="19" dt="2026-05-05T16:56:42.931">
    <p:pos x="196" y="825"/>
    <p:text>** Shifted analysis goal</p:text>
  </p:cm>
  <p:cm authorId="0" idx="20" dt="2026-05-05T16:58:36.680">
    <p:pos x="196" y="825"/>
    <p:text>** data understanding</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1" dt="2026-04-30T01:51:43.754">
    <p:pos x="3814" y="445"/>
    <p:text>Data Analysis and Interpretation</p:text>
  </p:cm>
  <p:cm authorId="0" idx="22" dt="2026-04-30T01:56:08.016">
    <p:pos x="3814" y="1879"/>
    <p:text>Planning</p:text>
  </p:cm>
  <p:cm authorId="0" idx="23" dt="2026-05-03T01:58:10.998">
    <p:pos x="3814" y="1979"/>
    <p:text>visualizations for performance monitoring</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4" dt="2026-04-30T02:00:25.662">
    <p:pos x="196" y="522"/>
    <p:text>Peer Support</p:text>
  </p:cm>
  <p:cm authorId="0" idx="25" dt="2026-05-03T02:01:17.195">
    <p:pos x="196" y="622"/>
    <p:text>Relatedness with Peers/ Peer Observations</p:text>
  </p:cm>
  <p:cm authorId="0" idx="26" dt="2026-05-03T02:01:17.195">
    <p:pos x="196" y="622"/>
    <p:text>Motivation</p:text>
  </p:cm>
  <p:cm authorId="0" idx="27" dt="2026-04-30T02:04:12.387">
    <p:pos x="196" y="722"/>
    <p:text>Students are organized with data collection</p:text>
  </p:cm>
  <p:cm authorId="0" idx="28" dt="2026-04-30T02:05:07.832">
    <p:pos x="196" y="822"/>
    <p:text>Students are consistent and productive</p:text>
  </p:cm>
  <p:cm authorId="0" idx="29" dt="2026-05-03T02:04:36.113">
    <p:pos x="196" y="922"/>
    <p:text>Passion</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1" dt="2025-10-06T15:45:29.772">
    <p:pos x="274" y="383"/>
    <p:text>I wouldn't fit a line with data so clustered with your caffeine intake data @szhang4@umbc.edu</p:text>
  </p:cm>
  <p:cm authorId="0" idx="30" dt="2026-04-30T02:09:20.270">
    <p:pos x="2880" y="277"/>
    <p:text>Analysis of outside factors</p:text>
  </p:cm>
  <p:cm authorId="0" idx="31" dt="2026-04-30T02:09:51.873">
    <p:pos x="2880" y="377"/>
    <p:text>Reflection</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2" dt="2026-05-03T02:10:51.439">
    <p:pos x="3730" y="661"/>
    <p:text>visualizations for sensemaking</p:text>
  </p:cm>
  <p:cm authorId="0" idx="33" dt="2026-05-02T20:48:16.742">
    <p:pos x="3730" y="761"/>
    <p:text>acting on insights? Sensemaking?</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2" dt="2025-10-06T15:47:42.058">
    <p:pos x="196" y="725"/>
    <p:text>@dnguye12@umbc.edu you might want to create chart to exam the relationship between productivity and energy, @szhang4@umbc.edu too</p:text>
  </p:cm>
  <p:cm authorId="0" idx="34" dt="2026-05-02T21:04:00.455">
    <p:pos x="196" y="825"/>
    <p:text>Sensemaking from data collection</p:tex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3" dt="2025-10-06T15:51:09.761">
    <p:pos x="3376" y="89"/>
    <p:text>your focused time could also be a function of your planned focus time, for example, do you plan work less over the weekend. If this is the case, it simply reflect your shift of life style from weekday to weekend. However, if your commitment to focus remain same, however, you find you can't focus during weekend, that's a different story</p:text>
  </p:cm>
  <p:cm authorId="0" idx="35" dt="2026-05-02T21:17:26.712">
    <p:pos x="3376" y="189"/>
    <p:text>behavior awareness and goal setting</p:tex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6" dt="2026-05-02T23:00:47.173">
    <p:pos x="196" y="725"/>
    <p:text>Positive project experiences and insights</p:text>
  </p:cm>
</p:cmLst>
</file>

<file path=ppt/comments/comment1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7" dt="2026-05-02T23:02:39.389">
    <p:pos x="196" y="725"/>
    <p:text>Relatedness with Peers</p:text>
  </p:cm>
  <p:cm authorId="0" idx="38" dt="2026-05-02T23:02:39.389">
    <p:pos x="196" y="725"/>
    <p:text>Peer support? - make it more specific?</p:text>
  </p:cm>
</p:cmLst>
</file>

<file path=ppt/comments/comment1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9" dt="2026-05-02T23:11:16.186">
    <p:pos x="196" y="725"/>
    <p:text>Developing Data Analysis Skills</p:text>
  </p:cm>
  <p:cm authorId="0" idx="40" dt="2026-05-02T23:11:16.186">
    <p:pos x="196" y="725"/>
    <p:text>Data Visualization insights</p:text>
  </p:cm>
  <p:cm authorId="0" idx="41" dt="2026-05-02T23:14:11.528">
    <p:pos x="196" y="825"/>
    <p:text>Acting on insights</p:text>
  </p:cm>
</p:cmLst>
</file>

<file path=ppt/comments/comment1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2" dt="2026-05-02T23:15:45.449">
    <p:pos x="2880" y="106"/>
    <p:text>Relatedness with instructor</p:text>
  </p:cm>
  <p:cm authorId="0" idx="43" dt="2026-05-02T23:22:44.729">
    <p:pos x="2880" y="206"/>
    <p:text>sensemaking from visualizations</p:text>
  </p:cm>
  <p:cm authorId="0" idx="44" dt="2026-05-02T23:22:44.729">
    <p:pos x="2880" y="206"/>
    <p:text>developing insights from data analysis</p:text>
  </p:cm>
</p:cmLst>
</file>

<file path=ppt/comments/comment1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5" dt="2026-05-02T23:30:22.012">
    <p:pos x="3096" y="587"/>
    <p:text>Insights from visualizations</p:text>
  </p:cm>
</p:cmLst>
</file>

<file path=ppt/comments/comment1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6" dt="2026-05-02T23:35:02.343">
    <p:pos x="196" y="700"/>
    <p:text>Goal setting for behavior change</p:text>
  </p:cm>
  <p:cm authorId="0" idx="47" dt="2026-05-02T23:35:18.998">
    <p:pos x="196" y="800"/>
    <p:text>insights from visualizations</p:text>
  </p:cm>
</p:cmLst>
</file>

<file path=ppt/comments/comment1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8" dt="2026-05-02T23:36:31.904">
    <p:pos x="3376" y="89"/>
    <p:text>insights from data analysis</p:text>
  </p:cm>
</p:cmLst>
</file>

<file path=ppt/comments/comment1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9" dt="2026-05-02T23:40:34.242">
    <p:pos x="196" y="725"/>
    <p:text>relatedness with instructor</p:text>
  </p:cm>
  <p:cm authorId="0" idx="50" dt="2026-05-02T23:42:05.035">
    <p:pos x="196" y="825"/>
    <p:text>insights from data analysis</p:text>
  </p:cm>
</p:cmLst>
</file>

<file path=ppt/comments/comment2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1" dt="2026-05-02T23:42:34.024">
    <p:pos x="196" y="725"/>
    <p:text>Peer support</p:text>
  </p:cm>
</p:cmLst>
</file>

<file path=ppt/comments/comment2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2" dt="2026-05-02T23:49:59.555">
    <p:pos x="196" y="457"/>
    <p:text>insights from visualizations</p:text>
  </p:cm>
  <p:cm authorId="0" idx="53" dt="2026-05-02T23:55:10.703">
    <p:pos x="196" y="557"/>
    <p:text>data visualization</p:text>
  </p:cm>
  <p:cm authorId="0" idx="54" dt="2026-05-03T00:03:59.182">
    <p:pos x="196" y="657"/>
    <p:text>Insights from visualization</p:text>
  </p:cm>
</p:cmLst>
</file>

<file path=ppt/comments/comment2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5" dt="2026-05-03T00:07:50.637">
    <p:pos x="2880" y="106"/>
    <p:text>insights from visualization</p:text>
  </p:cm>
</p:cmLst>
</file>

<file path=ppt/comments/comment2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6" dt="2026-05-03T00:18:30.349">
    <p:pos x="3462" y="392"/>
    <p:text>insights from visualizations</p:text>
  </p:cm>
  <p:cm authorId="0" idx="57" dt="2026-05-03T00:20:26.886">
    <p:pos x="3462" y="492"/>
    <p:text>Sensemaking, data analysis</p:text>
  </p:cm>
</p:cmLst>
</file>

<file path=ppt/comments/comment2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8" dt="2026-05-03T00:24:29.356">
    <p:pos x="196" y="725"/>
    <p:text>insights from visualizations</p:text>
  </p:cm>
  <p:cm authorId="0" idx="59" dt="2026-05-03T00:27:59.059">
    <p:pos x="196" y="825"/>
    <p:text>attempted behavior change</p:text>
  </p:cm>
  <p:cm authorId="0" idx="60" dt="2026-05-03T00:29:20.809">
    <p:pos x="196" y="925"/>
    <p:text>behavior awareness</p:text>
  </p:cm>
</p:cmLst>
</file>

<file path=ppt/comments/comment2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1" dt="2026-05-03T00:29:34.501">
    <p:pos x="3376" y="89"/>
    <p:text>behavior awareness</p:text>
  </p:cm>
</p:cmLst>
</file>

<file path=ppt/comments/comment2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2" dt="2026-05-04T16:44:28.445">
    <p:pos x="217" y="692"/>
    <p:text>Performance Monitoring/ Data Collection and Analysis enhancement</p:text>
  </p:cm>
  <p:cm authorId="0" idx="63" dt="2026-05-04T16:44:28.445">
    <p:pos x="217" y="692"/>
    <p:text>adjustment to project</p:text>
  </p:cm>
</p:cmLst>
</file>

<file path=ppt/comments/comment2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4" dt="2026-05-04T16:45:51.419">
    <p:pos x="196" y="725"/>
    <p:text>Relatedness with peers</p:text>
  </p:cm>
</p:cmLst>
</file>

<file path=ppt/comments/comment2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5" dt="2026-05-04T17:02:31.774">
    <p:pos x="2880" y="277"/>
    <p:text>conclusion results from data analysis</p:text>
  </p:cm>
</p:cmLst>
</file>

<file path=ppt/comments/comment2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6" dt="2026-05-04T17:27:12.167">
    <p:pos x="2880" y="277"/>
    <p:text>Performance monitoring</p:text>
  </p:cm>
  <p:cm authorId="0" idx="67" dt="2026-05-04T17:27:25.852">
    <p:pos x="2880" y="377"/>
    <p:text>Performance monitoring</p:text>
  </p:cm>
</p:cmLst>
</file>

<file path=ppt/comments/comment3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8" dt="2026-05-04T17:32:55.321">
    <p:pos x="2880" y="277"/>
    <p:text>performance monitoring</p:text>
  </p:cm>
  <p:cm authorId="0" idx="69" dt="2026-05-04T17:32:55.321">
    <p:pos x="2880" y="277"/>
    <p:text>behavior awareness</p:text>
  </p:cm>
</p:cmLst>
</file>

<file path=ppt/comments/comment3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4" dt="2025-10-28T02:23:40.949">
    <p:pos x="124" y="1001"/>
    <p:text>@szhang4@umbc.edu this data so interesting to see!</p:text>
  </p:cm>
  <p:cm authorId="0" idx="70" dt="2026-05-04T17:37:31.199">
    <p:pos x="2880" y="277"/>
    <p:text>insights from visualizations</p:text>
  </p:cm>
</p:cmLst>
</file>

<file path=ppt/comments/comment3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5" dt="2025-10-28T02:22:24.281">
    <p:pos x="196" y="725"/>
    <p:text>@szhang4@umbc.edu this is a very insightful finding!</p:text>
  </p:cm>
  <p:cm authorId="0" idx="71" dt="2026-05-04T17:40:06.627">
    <p:pos x="196" y="825"/>
    <p:text>Increased interest due to project</p:text>
  </p:cm>
  <p:cm authorId="0" idx="72" dt="2026-05-04T17:40:55.281">
    <p:pos x="196" y="925"/>
    <p:text>attempted behavior change</p:text>
  </p:cm>
  <p:cm authorId="0" idx="73" dt="2026-05-04T17:43:00.842">
    <p:pos x="196" y="1025"/>
    <p:text>reflection</p:text>
  </p:cm>
  <p:cm authorId="0" idx="74" dt="2026-05-04T17:43:34.962">
    <p:pos x="196" y="1125"/>
    <p:text>Goal setting for behavior changes</p:text>
  </p:cm>
  <p:cm authorId="0" idx="75" dt="2026-05-04T17:54:23.943">
    <p:pos x="196" y="1225"/>
    <p:text>reflection/ insight development</p:text>
  </p:cm>
</p:cmLst>
</file>

<file path=ppt/comments/comment3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6" dt="2025-10-28T02:25:03.928">
    <p:pos x="234" y="926"/>
    <p:text>@dnguye12@umbc.edu this plot has that outlier, you could remove that outlier so that the patterns for other data are more obvious</p:text>
  </p:cm>
</p:cmLst>
</file>

<file path=ppt/comments/comment3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7" dt="2025-10-28T02:26:35.586">
    <p:pos x="2769" y="582"/>
    <p:text>it is bit difficult to discern the correlation by comparing two bar charts. your eyes got tired back and forth, what is better plot?</p:text>
  </p:cm>
</p:cmLst>
</file>

<file path=ppt/comments/comment3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8" dt="2025-10-28T02:27:11.164">
    <p:pos x="40" y="841"/>
    <p:text>you can add those derived variable</p:text>
  </p:cm>
  <p:cm authorId="1" idx="5" dt="2026-04-30T15:22:03.917">
    <p:pos x="3202" y="1102"/>
    <p:text>performance monitoring</p:text>
  </p:cm>
  <p:cm authorId="1" idx="6" dt="2026-04-30T15:25:10.206">
    <p:pos x="3202" y="1202"/>
    <p:text>attempted behavior change</p:text>
  </p:cm>
  <p:cm authorId="1" idx="7" dt="2026-04-30T15:27:40.447">
    <p:pos x="3202" y="1302"/>
    <p:text>hypothesis testing</p:text>
  </p:cm>
</p:cmLst>
</file>

<file path=ppt/comments/comment3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8" dt="2026-04-30T15:34:08.650">
    <p:pos x="2880" y="883"/>
    <p:text>visualizations for performance monitoring</p:text>
  </p:cm>
</p:cmLst>
</file>

<file path=ppt/comments/comment3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6" dt="2026-04-30T15:37:25.297">
    <p:pos x="3068" y="725"/>
    <p:text>Performance Monitoring</p:text>
  </p:cm>
  <p:cm authorId="0" idx="77" dt="2026-04-30T15:38:56.014">
    <p:pos x="3068" y="825"/>
    <p:text>Motivation</p:text>
  </p:cm>
</p:cmLst>
</file>

<file path=ppt/comments/comment3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8" dt="2026-04-30T15:40:16.095">
    <p:pos x="2822" y="868"/>
    <p:text>Sensemaking from visualizations</p:text>
  </p:cm>
  <p:cm authorId="0" idx="79" dt="2026-04-30T15:41:10.108">
    <p:pos x="2822" y="968"/>
    <p:text>Data Analysis Techniques/sensemaking (correlation)</p:text>
  </p:cm>
</p:cmLst>
</file>

<file path=ppt/comments/comment3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9" dt="2025-10-28T02:20:22.685">
    <p:pos x="196" y="280"/>
    <p:text>@csong6@umbc.edu excellent job. I love that you did active experimentation and find the "godilock" zone. You are technically doing scientist's job!</p:text>
  </p:cm>
  <p:cm authorId="1" idx="9" dt="2026-04-30T15:40:55.775">
    <p:pos x="196" y="725"/>
    <p:text>hypothesis testing</p:text>
  </p:cm>
  <p:cm authorId="1" idx="10" dt="2026-04-30T15:42:19.497">
    <p:pos x="196" y="825"/>
    <p:text>competency</p:text>
  </p:cm>
  <p:cm authorId="1" idx="11" dt="2026-04-30T15:44:20.628">
    <p:pos x="196" y="925"/>
    <p:text>autonomy</p:text>
  </p:cm>
  <p:cm authorId="1" idx="12" dt="2026-04-30T15:44:31.045">
    <p:pos x="196" y="1025"/>
    <p:text>competency</p:text>
  </p:cm>
</p:cmLst>
</file>

<file path=ppt/comments/comment4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0" dt="2026-04-30T15:42:18.693">
    <p:pos x="48" y="223"/>
    <p:text>Peer Support</p:text>
  </p:cm>
  <p:cm authorId="0" idx="81" dt="2026-04-30T15:43:21.594">
    <p:pos x="48" y="323"/>
    <p:text>Peer Support and empowerment</p:text>
  </p:cm>
  <p:cm authorId="0" idx="82" dt="2026-04-30T15:46:44.891">
    <p:pos x="48" y="423"/>
    <p:text>Peer Support - Graphs, Reflections, and Encouragement</p:text>
  </p:cm>
  <p:cm authorId="1" idx="13" dt="2026-04-30T15:46:53.378">
    <p:pos x="48" y="523"/>
    <p:text>competency through peer relatedness</p:text>
  </p:cm>
  <p:cm authorId="1" idx="14" dt="2026-04-30T15:48:25.800">
    <p:pos x="48" y="623"/>
    <p:text>peer relatedness inspires behavior change</p:text>
  </p:cm>
  <p:cm authorId="0" idx="83" dt="2026-04-30T15:48:33.683">
    <p:pos x="48" y="723"/>
    <p:text>Peer Feedback</p:text>
  </p:cm>
  <p:cm authorId="1" idx="15" dt="2026-04-30T15:49:31.139">
    <p:pos x="48" y="823"/>
    <p:text>peer relatedness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f5e12f2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f5e12f2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4c1b367d2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4c1b367d2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whole quote -&gt; continuation of correlation analysis.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af87ef8e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af87ef8e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4c1b367d2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84c1b367d2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af87ef8ee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af87ef8ee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can help with inconsistencies in the future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84c1b367d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84c1b367d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4497c68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4497c68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af87ef8ee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af87ef8ee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4fb11b5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84fb11b5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4fb11b53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4fb11b53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501984cc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501984cc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4fb11b53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4fb11b53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8bf334fa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68bf334fa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84fb11b53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84fb11b53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8500d4813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8500d4813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68bf334fa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68bf334fa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5fa80e85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85fa80e85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5fc5f0da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5fc5f0da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5fc5f0da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85fc5f0da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85fc5f0da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85fc5f0da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85fa80e85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85fa80e85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85fa80e85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85fa80e85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85fa80e85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85fa80e85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85fa80e85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85fa80e85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5fa80e85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85fa80e85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85fa80e85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85fa80e85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85fc5f0da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85fc5f0da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85fa80e85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85fa80e85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b0b6b959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9b0b6b959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85fa80e85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85fa80e85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85fa80e85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85fa80e85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85fa80e85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85fa80e85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85fa80e85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85fa80e85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5fa80e858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85fa80e85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5fa80e85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85fa80e85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5fa80e858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85fa80e85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9d45dc42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9d45dc42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9d45dc426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9d45dc426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d45dc426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9d45dc426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9d45dc426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9d45dc426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9d45dc426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9d45dc426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9d45dc426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9d45dc426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85fa80e85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85fa80e85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9d45dc4266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9d45dc4266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9d3e92e6a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9d3e92e6a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9d45dc426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9d45dc426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85fa80e858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85fa80e85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9d3e92e6a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9d3e92e6a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9d3e92e6a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9d3e92e6a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9d3e92e6a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9d3e92e6a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9d3e92e6a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9d3e92e6a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85fa80e85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85fa80e85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6.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8.xml"/><Relationship Id="rId4" Type="http://schemas.openxmlformats.org/officeDocument/2006/relationships/image" Target="../media/image3.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9.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omments" Target="../comments/commen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omments" Target="../comments/comment1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comments" Target="../comments/commen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omments" Target="../comments/commen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comments" Target="../comments/commen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comments" Target="../comments/comment15.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comments" Target="../comments/comment16.xml"/><Relationship Id="rId4" Type="http://schemas.openxmlformats.org/officeDocument/2006/relationships/image" Target="../media/image15.png"/><Relationship Id="rId5"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comments" Target="../comments/commen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comments" Target="../comments/comment18.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comments" Target="../comments/commen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comments" Target="../comments/commen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comments" Target="../comments/comment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comments" Target="../comments/comment2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comments" Target="../comments/comment23.xml"/><Relationship Id="rId4" Type="http://schemas.openxmlformats.org/officeDocument/2006/relationships/image" Target="../media/image12.png"/><Relationship Id="rId5"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comments" Target="../comments/commen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comments" Target="../comments/comment25.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comments" Target="../comments/commen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comments" Target="../comments/comment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comments" Target="../comments/comment28.xml"/><Relationship Id="rId4" Type="http://schemas.openxmlformats.org/officeDocument/2006/relationships/image" Target="../media/image20.png"/><Relationship Id="rId5"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comments" Target="../comments/comment29.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comments" Target="../comments/comment30.xml"/><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comments" Target="../comments/comment31.xml"/><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comments" Target="../comments/comment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comments" Target="../comments/comment33.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comments" Target="../comments/comment34.xml"/><Relationship Id="rId4" Type="http://schemas.openxmlformats.org/officeDocument/2006/relationships/image" Target="../media/image22.png"/><Relationship Id="rId5"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comments" Target="../comments/comment35.xml"/><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0.png"/><Relationship Id="rId4" Type="http://schemas.openxmlformats.org/officeDocument/2006/relationships/image" Target="../media/image32.png"/><Relationship Id="rId5"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comments" Target="../comments/comment36.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comments" Target="../comments/comment37.xml"/><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comments" Target="../comments/comment38.xml"/><Relationship Id="rId4" Type="http://schemas.openxmlformats.org/officeDocument/2006/relationships/image" Target="../media/image3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comments" Target="../comments/comment3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comments" Target="../comments/comment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Personal Informatics Reflections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Group ID: 2</a:t>
            </a:r>
            <a:endParaRPr/>
          </a:p>
          <a:p>
            <a:pPr indent="0" lvl="0" marL="0" rtl="0" algn="ctr">
              <a:spcBef>
                <a:spcPts val="0"/>
              </a:spcBef>
              <a:spcAft>
                <a:spcPts val="0"/>
              </a:spcAft>
              <a:buNone/>
            </a:pPr>
            <a:r>
              <a:rPr lang="en"/>
              <a:t>Group Members: Steven Zhang, Dongthi Nguyen, </a:t>
            </a:r>
            <a:r>
              <a:rPr lang="en"/>
              <a:t>Chris Song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Week 1</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(9/22 - 9/28)</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67" name="Google Shape;67;p15"/>
          <p:cNvSpPr txBox="1"/>
          <p:nvPr>
            <p:ph idx="1" type="body"/>
          </p:nvPr>
        </p:nvSpPr>
        <p:spPr>
          <a:xfrm>
            <a:off x="5958375" y="1152475"/>
            <a:ext cx="287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9/19/25-9/28/25 </a:t>
            </a:r>
            <a:endParaRPr sz="1300"/>
          </a:p>
          <a:p>
            <a:pPr indent="0" lvl="0" marL="0" rtl="0" algn="l">
              <a:spcBef>
                <a:spcPts val="1200"/>
              </a:spcBef>
              <a:spcAft>
                <a:spcPts val="1200"/>
              </a:spcAft>
              <a:buNone/>
            </a:pPr>
            <a:r>
              <a:rPr lang="en" sz="1300"/>
              <a:t>My observations during this time range show that </a:t>
            </a:r>
            <a:r>
              <a:rPr lang="en" sz="1300">
                <a:highlight>
                  <a:srgbClr val="F4CCCC"/>
                </a:highlight>
              </a:rPr>
              <a:t>my caffeine intake amount </a:t>
            </a:r>
            <a:r>
              <a:rPr b="1" lang="en" sz="1300">
                <a:highlight>
                  <a:srgbClr val="F4CCCC"/>
                </a:highlight>
              </a:rPr>
              <a:t>correlates</a:t>
            </a:r>
            <a:r>
              <a:rPr lang="en" sz="1300">
                <a:highlight>
                  <a:srgbClr val="F4CCCC"/>
                </a:highlight>
              </a:rPr>
              <a:t> with my daily average energy level.</a:t>
            </a:r>
            <a:r>
              <a:rPr lang="en" sz="1300"/>
              <a:t> On the days that I do consume more caffeine, my average energy also rises, and on the days that I do not consume caffeine, my energy is lower as well.</a:t>
            </a:r>
            <a:endParaRPr sz="1200"/>
          </a:p>
        </p:txBody>
      </p:sp>
      <p:pic>
        <p:nvPicPr>
          <p:cNvPr id="68" name="Google Shape;68;p15" title="Chart"/>
          <p:cNvPicPr preferRelativeResize="0"/>
          <p:nvPr/>
        </p:nvPicPr>
        <p:blipFill>
          <a:blip r:embed="rId4">
            <a:alphaModFix/>
          </a:blip>
          <a:stretch>
            <a:fillRect/>
          </a:stretch>
        </p:blipFill>
        <p:spPr>
          <a:xfrm>
            <a:off x="152400" y="1170125"/>
            <a:ext cx="5653575" cy="349579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74" name="Google Shape;74;p16"/>
          <p:cNvSpPr txBox="1"/>
          <p:nvPr>
            <p:ph idx="1" type="body"/>
          </p:nvPr>
        </p:nvSpPr>
        <p:spPr>
          <a:xfrm>
            <a:off x="5958375" y="1152475"/>
            <a:ext cx="287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9/19/25-9/28/25 </a:t>
            </a:r>
            <a:endParaRPr sz="1300"/>
          </a:p>
          <a:p>
            <a:pPr indent="0" lvl="0" marL="0" rtl="0" algn="l">
              <a:spcBef>
                <a:spcPts val="1200"/>
              </a:spcBef>
              <a:spcAft>
                <a:spcPts val="1200"/>
              </a:spcAft>
              <a:buNone/>
            </a:pPr>
            <a:r>
              <a:rPr lang="en" sz="1300"/>
              <a:t>My observations during this time range </a:t>
            </a:r>
            <a:r>
              <a:rPr lang="en" sz="1300">
                <a:highlight>
                  <a:srgbClr val="F4CCCC"/>
                </a:highlight>
              </a:rPr>
              <a:t>suggest that my sleep duration kind of has a negative correlation with my daily average energy level</a:t>
            </a:r>
            <a:r>
              <a:rPr lang="en" sz="1300"/>
              <a:t>. </a:t>
            </a:r>
            <a:r>
              <a:rPr lang="en" sz="1300"/>
              <a:t>When my sleep duration increases, my energy level decreases, and vice versa.</a:t>
            </a:r>
            <a:endParaRPr sz="1200"/>
          </a:p>
        </p:txBody>
      </p:sp>
      <p:pic>
        <p:nvPicPr>
          <p:cNvPr id="75" name="Google Shape;75;p16" title="Chart"/>
          <p:cNvPicPr preferRelativeResize="0"/>
          <p:nvPr/>
        </p:nvPicPr>
        <p:blipFill>
          <a:blip r:embed="rId4">
            <a:alphaModFix/>
          </a:blip>
          <a:stretch>
            <a:fillRect/>
          </a:stretch>
        </p:blipFill>
        <p:spPr>
          <a:xfrm>
            <a:off x="152400" y="1170125"/>
            <a:ext cx="5653575" cy="349579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 Reflection</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keeping track of my data, it has made me realize that I regularly consume </a:t>
            </a:r>
            <a:r>
              <a:rPr lang="en"/>
              <a:t>caffeine</a:t>
            </a:r>
            <a:r>
              <a:rPr lang="en"/>
              <a:t> to keep me energized throughout the day. If I do not consume caffeine, I will likely feel tired or sluggish that day.</a:t>
            </a:r>
            <a:r>
              <a:rPr lang="en"/>
              <a:t> </a:t>
            </a:r>
            <a:r>
              <a:rPr lang="en"/>
              <a:t>I also noticed that I am not meeting my sleep goals. </a:t>
            </a:r>
            <a:r>
              <a:rPr lang="en"/>
              <a:t>I frequently go to sleep past 1 AM and sleep less than 7 hours per night. These may also be factors that impact my energy levels throughout the day.</a:t>
            </a:r>
            <a:endParaRPr/>
          </a:p>
          <a:p>
            <a:pPr indent="0" lvl="0" marL="0" rtl="0" algn="l">
              <a:spcBef>
                <a:spcPts val="1200"/>
              </a:spcBef>
              <a:spcAft>
                <a:spcPts val="1200"/>
              </a:spcAft>
              <a:buNone/>
            </a:pPr>
            <a:r>
              <a:rPr lang="en">
                <a:highlight>
                  <a:srgbClr val="D9EAD3"/>
                </a:highlight>
              </a:rPr>
              <a:t>From now, I would like to focus on other outcome variables like productivity duration rather than daily mood, as mood is similar to energy.</a:t>
            </a:r>
            <a:r>
              <a:rPr lang="en"/>
              <a:t> They are both measures of what I feel. I would rather measure how long I am productive during the day.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a:t>
            </a:r>
            <a:endParaRPr/>
          </a:p>
        </p:txBody>
      </p:sp>
      <p:sp>
        <p:nvSpPr>
          <p:cNvPr id="87" name="Google Shape;87;p18"/>
          <p:cNvSpPr txBox="1"/>
          <p:nvPr>
            <p:ph idx="1" type="body"/>
          </p:nvPr>
        </p:nvSpPr>
        <p:spPr>
          <a:xfrm>
            <a:off x="5611700" y="573600"/>
            <a:ext cx="3392700" cy="4569900"/>
          </a:xfrm>
          <a:prstGeom prst="rect">
            <a:avLst/>
          </a:prstGeom>
          <a:ln cap="flat" cmpd="sng" w="9525">
            <a:solidFill>
              <a:srgbClr val="FFF2CC"/>
            </a:solidFill>
            <a:prstDash val="solid"/>
            <a:round/>
            <a:headEnd len="sm" w="sm" type="none"/>
            <a:tailEnd len="sm" w="sm" type="none"/>
          </a:ln>
        </p:spPr>
        <p:txBody>
          <a:bodyPr anchorCtr="0" anchor="t" bIns="91425" lIns="91425" spcFirstLastPara="1" rIns="91425" wrap="square" tIns="91425">
            <a:normAutofit fontScale="77500" lnSpcReduction="10000"/>
          </a:bodyPr>
          <a:lstStyle/>
          <a:p>
            <a:pPr indent="0" lvl="0" marL="0" rtl="0" algn="ctr">
              <a:spcBef>
                <a:spcPts val="0"/>
              </a:spcBef>
              <a:spcAft>
                <a:spcPts val="0"/>
              </a:spcAft>
              <a:buNone/>
            </a:pPr>
            <a:r>
              <a:rPr lang="en"/>
              <a:t>9/15/25-9/21/25 </a:t>
            </a:r>
            <a:endParaRPr/>
          </a:p>
          <a:p>
            <a:pPr indent="0" lvl="0" marL="0" rtl="0" algn="l">
              <a:spcBef>
                <a:spcPts val="1200"/>
              </a:spcBef>
              <a:spcAft>
                <a:spcPts val="0"/>
              </a:spcAft>
              <a:buNone/>
            </a:pPr>
            <a:r>
              <a:rPr lang="en"/>
              <a:t>This week felt fairly standard, but my observations from this data suggest that </a:t>
            </a:r>
            <a:r>
              <a:rPr lang="en">
                <a:highlight>
                  <a:srgbClr val="D9EAD3"/>
                </a:highlight>
              </a:rPr>
              <a:t>my sleep length strongly correlates with my energy levels.</a:t>
            </a:r>
            <a:r>
              <a:rPr lang="en">
                <a:highlight>
                  <a:srgbClr val="D9EAD3"/>
                </a:highlight>
              </a:rPr>
              <a:t> </a:t>
            </a:r>
            <a:r>
              <a:rPr lang="en">
                <a:highlight>
                  <a:srgbClr val="FCE5CD"/>
                </a:highlight>
              </a:rPr>
              <a:t>I</a:t>
            </a:r>
            <a:r>
              <a:rPr lang="en">
                <a:highlight>
                  <a:srgbClr val="FCE5CD"/>
                </a:highlight>
              </a:rPr>
              <a:t>’ve noticed that my schedule is quite consistent</a:t>
            </a:r>
            <a:r>
              <a:rPr lang="en">
                <a:highlight>
                  <a:srgbClr val="FCE5CD"/>
                </a:highlight>
              </a:rPr>
              <a:t>—I tend to go to bed and wake up around the same time each day. As a result, my energy and productivity remained steady throughout the week, likely because I’ve been getting enough rest. </a:t>
            </a:r>
            <a:r>
              <a:rPr lang="en">
                <a:highlight>
                  <a:srgbClr val="D9EAD3"/>
                </a:highlight>
              </a:rPr>
              <a:t>I also realized that if my sleep were to be cut short, my energy and focus would probably </a:t>
            </a:r>
            <a:r>
              <a:rPr lang="en">
                <a:highlight>
                  <a:srgbClr val="D9EAD3"/>
                </a:highlight>
              </a:rPr>
              <a:t>drop significantly like on sunday the sleep was lower the rest of the week but so was the energy and productivity</a:t>
            </a:r>
            <a:r>
              <a:rPr lang="en">
                <a:highlight>
                  <a:srgbClr val="D9EAD3"/>
                </a:highlight>
              </a:rPr>
              <a:t>.</a:t>
            </a:r>
            <a:endParaRPr>
              <a:highlight>
                <a:srgbClr val="D9EAD3"/>
              </a:highlight>
            </a:endParaRPr>
          </a:p>
          <a:p>
            <a:pPr indent="0" lvl="0" marL="0" rtl="0" algn="l">
              <a:spcBef>
                <a:spcPts val="1200"/>
              </a:spcBef>
              <a:spcAft>
                <a:spcPts val="1200"/>
              </a:spcAft>
              <a:buNone/>
            </a:pPr>
            <a:r>
              <a:t/>
            </a:r>
            <a:endParaRPr/>
          </a:p>
        </p:txBody>
      </p:sp>
      <p:pic>
        <p:nvPicPr>
          <p:cNvPr id="88" name="Google Shape;88;p18" title="Chart"/>
          <p:cNvPicPr preferRelativeResize="0"/>
          <p:nvPr/>
        </p:nvPicPr>
        <p:blipFill>
          <a:blip r:embed="rId4">
            <a:alphaModFix/>
          </a:blip>
          <a:stretch>
            <a:fillRect/>
          </a:stretch>
        </p:blipFill>
        <p:spPr>
          <a:xfrm>
            <a:off x="3" y="863550"/>
            <a:ext cx="5525190" cy="3416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 Reflection</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Reflection: </a:t>
            </a:r>
            <a:r>
              <a:rPr lang="en">
                <a:highlight>
                  <a:srgbClr val="CFE2F3"/>
                </a:highlight>
              </a:rPr>
              <a:t>A takeaway from this week is how structured my routine has become. Waking up early, driving to work, and then heading to school until late in the evening has created a predictable rhythm.</a:t>
            </a:r>
            <a:r>
              <a:rPr lang="en"/>
              <a:t> I hadn’t realized just how scheduled my life has become because of school until reflecting on it this week.</a:t>
            </a:r>
            <a:endParaRPr/>
          </a:p>
          <a:p>
            <a:pPr indent="0" lvl="0" marL="0" rtl="0" algn="l">
              <a:spcBef>
                <a:spcPts val="1200"/>
              </a:spcBef>
              <a:spcAft>
                <a:spcPts val="1200"/>
              </a:spcAft>
              <a:buClr>
                <a:schemeClr val="dk1"/>
              </a:buClr>
              <a:buSzPts val="1100"/>
              <a:buFont typeface="Arial"/>
              <a:buNone/>
            </a:pPr>
            <a:r>
              <a:rPr lang="en"/>
              <a:t>I</a:t>
            </a:r>
            <a:r>
              <a:rPr lang="en">
                <a:highlight>
                  <a:srgbClr val="D9EAD3"/>
                </a:highlight>
              </a:rPr>
              <a:t> would like to possibly focus more on how different the data is on the weekends when I do not have work or school, does my responsibilities really influence my routine that much or is it simply how I am</a:t>
            </a:r>
            <a:endParaRPr>
              <a:highlight>
                <a:srgbClr val="D9EAD3"/>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Chris Song - </a:t>
            </a:r>
            <a:r>
              <a:rPr i="1" lang="en" sz="1550"/>
              <a:t>working out before focusing on school</a:t>
            </a:r>
            <a:endParaRPr i="1" sz="1550"/>
          </a:p>
        </p:txBody>
      </p:sp>
      <p:sp>
        <p:nvSpPr>
          <p:cNvPr id="100" name="Google Shape;100;p20"/>
          <p:cNvSpPr txBox="1"/>
          <p:nvPr>
            <p:ph idx="1" type="body"/>
          </p:nvPr>
        </p:nvSpPr>
        <p:spPr>
          <a:xfrm>
            <a:off x="6054875" y="707325"/>
            <a:ext cx="3002400" cy="19812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Most days I have exercised (before studying) and focused =&gt;50 minutes.</a:t>
            </a:r>
            <a:endParaRPr/>
          </a:p>
          <a:p>
            <a:pPr indent="-334328" lvl="0" marL="457200" rtl="0" algn="l">
              <a:spcBef>
                <a:spcPts val="0"/>
              </a:spcBef>
              <a:spcAft>
                <a:spcPts val="0"/>
              </a:spcAft>
              <a:buSzPct val="100000"/>
              <a:buChar char="-"/>
            </a:pPr>
            <a:r>
              <a:rPr lang="en"/>
              <a:t> </a:t>
            </a:r>
            <a:r>
              <a:rPr lang="en">
                <a:highlight>
                  <a:srgbClr val="F4CCCC"/>
                </a:highlight>
              </a:rPr>
              <a:t>Day 4&amp;5 had peak focus and least exercise duration and </a:t>
            </a:r>
            <a:r>
              <a:rPr lang="en">
                <a:highlight>
                  <a:srgbClr val="F4CCCC"/>
                </a:highlight>
              </a:rPr>
              <a:t>intensity</a:t>
            </a:r>
            <a:r>
              <a:rPr lang="en">
                <a:highlight>
                  <a:srgbClr val="F4CCCC"/>
                </a:highlight>
              </a:rPr>
              <a:t>.</a:t>
            </a:r>
            <a:endParaRPr>
              <a:highlight>
                <a:srgbClr val="F4CCCC"/>
              </a:highlight>
            </a:endParaRPr>
          </a:p>
        </p:txBody>
      </p:sp>
      <p:pic>
        <p:nvPicPr>
          <p:cNvPr id="101" name="Google Shape;101;p20" title="chart.png"/>
          <p:cNvPicPr preferRelativeResize="0"/>
          <p:nvPr/>
        </p:nvPicPr>
        <p:blipFill>
          <a:blip r:embed="rId4">
            <a:alphaModFix/>
          </a:blip>
          <a:stretch>
            <a:fillRect/>
          </a:stretch>
        </p:blipFill>
        <p:spPr>
          <a:xfrm>
            <a:off x="195350" y="1152463"/>
            <a:ext cx="5715000" cy="3533775"/>
          </a:xfrm>
          <a:prstGeom prst="rect">
            <a:avLst/>
          </a:prstGeom>
          <a:noFill/>
          <a:ln>
            <a:noFill/>
          </a:ln>
        </p:spPr>
      </p:pic>
      <p:sp>
        <p:nvSpPr>
          <p:cNvPr id="102" name="Google Shape;102;p20"/>
          <p:cNvSpPr txBox="1"/>
          <p:nvPr/>
        </p:nvSpPr>
        <p:spPr>
          <a:xfrm>
            <a:off x="6438450" y="334275"/>
            <a:ext cx="257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Insight:</a:t>
            </a:r>
            <a:endParaRPr sz="1800">
              <a:solidFill>
                <a:schemeClr val="dk2"/>
              </a:solidFill>
            </a:endParaRPr>
          </a:p>
        </p:txBody>
      </p:sp>
      <p:sp>
        <p:nvSpPr>
          <p:cNvPr id="103" name="Google Shape;103;p20"/>
          <p:cNvSpPr txBox="1"/>
          <p:nvPr>
            <p:ph idx="1" type="body"/>
          </p:nvPr>
        </p:nvSpPr>
        <p:spPr>
          <a:xfrm>
            <a:off x="6054875" y="2984400"/>
            <a:ext cx="3002400" cy="2102400"/>
          </a:xfrm>
          <a:prstGeom prst="rect">
            <a:avLst/>
          </a:prstGeom>
        </p:spPr>
        <p:txBody>
          <a:bodyPr anchorCtr="0" anchor="t" bIns="91425" lIns="91425" spcFirstLastPara="1" rIns="91425" wrap="square" tIns="91425">
            <a:normAutofit fontScale="70000"/>
          </a:bodyPr>
          <a:lstStyle/>
          <a:p>
            <a:pPr indent="-308610" lvl="0" marL="457200" rtl="0" algn="l">
              <a:spcBef>
                <a:spcPts val="0"/>
              </a:spcBef>
              <a:spcAft>
                <a:spcPts val="0"/>
              </a:spcAft>
              <a:buSzPct val="100000"/>
              <a:buChar char="-"/>
            </a:pPr>
            <a:r>
              <a:rPr lang="en">
                <a:highlight>
                  <a:srgbClr val="D9D2E9"/>
                </a:highlight>
              </a:rPr>
              <a:t>Keep experimenting with workout </a:t>
            </a:r>
            <a:r>
              <a:rPr lang="en">
                <a:highlight>
                  <a:srgbClr val="D9D2E9"/>
                </a:highlight>
              </a:rPr>
              <a:t>intensity</a:t>
            </a:r>
            <a:r>
              <a:rPr lang="en">
                <a:highlight>
                  <a:srgbClr val="D9D2E9"/>
                </a:highlight>
              </a:rPr>
              <a:t> (before studying) to see focus time correlation</a:t>
            </a:r>
            <a:endParaRPr>
              <a:highlight>
                <a:srgbClr val="D9D2E9"/>
              </a:highlight>
            </a:endParaRPr>
          </a:p>
          <a:p>
            <a:pPr indent="-308610" lvl="0" marL="457200" rtl="0" algn="l">
              <a:spcBef>
                <a:spcPts val="0"/>
              </a:spcBef>
              <a:spcAft>
                <a:spcPts val="0"/>
              </a:spcAft>
              <a:buSzPct val="100000"/>
              <a:buChar char="-"/>
            </a:pPr>
            <a:r>
              <a:rPr lang="en"/>
              <a:t>T</a:t>
            </a:r>
            <a:r>
              <a:rPr lang="en">
                <a:highlight>
                  <a:srgbClr val="F4CCCC"/>
                </a:highlight>
              </a:rPr>
              <a:t>he data generally does not support that exercise and focus are mutually exclusive. However, moderate-to-</a:t>
            </a:r>
            <a:r>
              <a:rPr lang="en">
                <a:highlight>
                  <a:srgbClr val="F4CCCC"/>
                </a:highlight>
              </a:rPr>
              <a:t>vigorous</a:t>
            </a:r>
            <a:r>
              <a:rPr lang="en">
                <a:highlight>
                  <a:srgbClr val="F4CCCC"/>
                </a:highlight>
              </a:rPr>
              <a:t> activity may improve concentration.</a:t>
            </a:r>
            <a:endParaRPr>
              <a:highlight>
                <a:srgbClr val="F4CCCC"/>
              </a:highlight>
            </a:endParaRPr>
          </a:p>
        </p:txBody>
      </p:sp>
      <p:sp>
        <p:nvSpPr>
          <p:cNvPr id="104" name="Google Shape;104;p20"/>
          <p:cNvSpPr txBox="1"/>
          <p:nvPr/>
        </p:nvSpPr>
        <p:spPr>
          <a:xfrm>
            <a:off x="6438450" y="2571738"/>
            <a:ext cx="257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Reflection</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257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Group reflection</a:t>
            </a:r>
            <a:endParaRPr/>
          </a:p>
        </p:txBody>
      </p:sp>
      <p:sp>
        <p:nvSpPr>
          <p:cNvPr id="110" name="Google Shape;110;p21"/>
          <p:cNvSpPr txBox="1"/>
          <p:nvPr>
            <p:ph idx="1" type="body"/>
          </p:nvPr>
        </p:nvSpPr>
        <p:spPr>
          <a:xfrm>
            <a:off x="311700" y="829775"/>
            <a:ext cx="85206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Chris:</a:t>
            </a:r>
            <a:endParaRPr sz="1300"/>
          </a:p>
          <a:p>
            <a:pPr indent="-311150" lvl="0" marL="457200" rtl="0" algn="l">
              <a:spcBef>
                <a:spcPts val="1200"/>
              </a:spcBef>
              <a:spcAft>
                <a:spcPts val="0"/>
              </a:spcAft>
              <a:buSzPts val="1300"/>
              <a:buChar char="-"/>
            </a:pPr>
            <a:r>
              <a:rPr lang="en" sz="1300"/>
              <a:t>I’m interested in finding out my sweet spot for exercise </a:t>
            </a:r>
            <a:r>
              <a:rPr lang="en" sz="1300"/>
              <a:t>intensity</a:t>
            </a:r>
            <a:r>
              <a:rPr lang="en" sz="1300"/>
              <a:t> to find my optimal concentration time. </a:t>
            </a:r>
            <a:endParaRPr sz="1300"/>
          </a:p>
          <a:p>
            <a:pPr indent="-311150" lvl="0" marL="457200" rtl="0" algn="l">
              <a:spcBef>
                <a:spcPts val="0"/>
              </a:spcBef>
              <a:spcAft>
                <a:spcPts val="0"/>
              </a:spcAft>
              <a:buSzPts val="1300"/>
              <a:buChar char="-"/>
            </a:pPr>
            <a:r>
              <a:rPr lang="en" sz="1300"/>
              <a:t>Both Steven and DT have noticed that their sleep affects their energy. DT has </a:t>
            </a:r>
            <a:r>
              <a:rPr lang="en" sz="1300"/>
              <a:t>noticed</a:t>
            </a:r>
            <a:r>
              <a:rPr lang="en" sz="1300"/>
              <a:t> that if he reduces his sleep, his energy gets lowered. Whereas, Steven has noticed that too much sleep (+8hrs) may </a:t>
            </a:r>
            <a:r>
              <a:rPr lang="en" sz="1300"/>
              <a:t>correlate</a:t>
            </a:r>
            <a:r>
              <a:rPr lang="en" sz="1300"/>
              <a:t> to decreased </a:t>
            </a:r>
            <a:r>
              <a:rPr lang="en" sz="1300"/>
              <a:t>energy</a:t>
            </a:r>
            <a:r>
              <a:rPr lang="en" sz="1300"/>
              <a:t> levels.</a:t>
            </a:r>
            <a:endParaRPr sz="1300"/>
          </a:p>
          <a:p>
            <a:pPr indent="0" lvl="0" marL="0" rtl="0" algn="l">
              <a:spcBef>
                <a:spcPts val="1200"/>
              </a:spcBef>
              <a:spcAft>
                <a:spcPts val="0"/>
              </a:spcAft>
              <a:buNone/>
            </a:pPr>
            <a:r>
              <a:rPr lang="en" sz="1300"/>
              <a:t>DT: </a:t>
            </a:r>
            <a:endParaRPr sz="1300"/>
          </a:p>
          <a:p>
            <a:pPr indent="-311150" lvl="0" marL="457200" rtl="0" algn="l">
              <a:spcBef>
                <a:spcPts val="1200"/>
              </a:spcBef>
              <a:spcAft>
                <a:spcPts val="0"/>
              </a:spcAft>
              <a:buSzPts val="1300"/>
              <a:buChar char="-"/>
            </a:pPr>
            <a:r>
              <a:rPr lang="en" sz="1300"/>
              <a:t>I can see </a:t>
            </a:r>
            <a:r>
              <a:rPr lang="en" sz="1300"/>
              <a:t>Chris is really dedicated to his personal data sheet, </a:t>
            </a:r>
            <a:r>
              <a:rPr lang="en" sz="1300"/>
              <a:t>being very </a:t>
            </a:r>
            <a:r>
              <a:rPr lang="en" sz="1300"/>
              <a:t>consistent</a:t>
            </a:r>
            <a:r>
              <a:rPr lang="en" sz="1300"/>
              <a:t> with his work outs and recording it within his data, I would like to ask for his motivation </a:t>
            </a:r>
            <a:endParaRPr sz="1300"/>
          </a:p>
          <a:p>
            <a:pPr indent="-311150" lvl="0" marL="457200" rtl="0" algn="l">
              <a:spcBef>
                <a:spcPts val="0"/>
              </a:spcBef>
              <a:spcAft>
                <a:spcPts val="0"/>
              </a:spcAft>
              <a:buSzPts val="1300"/>
              <a:buChar char="-"/>
            </a:pPr>
            <a:r>
              <a:rPr lang="en" sz="1300"/>
              <a:t>Steven data sheet is very organized, and he does well in keeping track of his outcomes </a:t>
            </a:r>
            <a:r>
              <a:rPr lang="en" sz="1300"/>
              <a:t>I would like to adopt his formatting within mine</a:t>
            </a:r>
            <a:endParaRPr sz="1300"/>
          </a:p>
          <a:p>
            <a:pPr indent="0" lvl="0" marL="0" rtl="0" algn="l">
              <a:spcBef>
                <a:spcPts val="1200"/>
              </a:spcBef>
              <a:spcAft>
                <a:spcPts val="0"/>
              </a:spcAft>
              <a:buNone/>
            </a:pPr>
            <a:r>
              <a:rPr lang="en" sz="1300"/>
              <a:t>Steven</a:t>
            </a:r>
            <a:endParaRPr sz="1300"/>
          </a:p>
          <a:p>
            <a:pPr indent="-311150" lvl="0" marL="457200" rtl="0" algn="l">
              <a:spcBef>
                <a:spcPts val="1200"/>
              </a:spcBef>
              <a:spcAft>
                <a:spcPts val="0"/>
              </a:spcAft>
              <a:buSzPts val="1300"/>
              <a:buChar char="-"/>
            </a:pPr>
            <a:r>
              <a:rPr lang="en" sz="1300"/>
              <a:t>DT has a very consistent schedule which I believe is really good to have. He usually gets a good amount of sleep which helps him with his energy and productivity.</a:t>
            </a:r>
            <a:endParaRPr sz="1300"/>
          </a:p>
          <a:p>
            <a:pPr indent="-311150" lvl="0" marL="457200" rtl="0" algn="l">
              <a:spcBef>
                <a:spcPts val="0"/>
              </a:spcBef>
              <a:spcAft>
                <a:spcPts val="0"/>
              </a:spcAft>
              <a:buSzPts val="1300"/>
              <a:buChar char="-"/>
            </a:pPr>
            <a:r>
              <a:rPr lang="en" sz="1300"/>
              <a:t>Chris highly values exercise, and it can be seen in his data. </a:t>
            </a:r>
            <a:r>
              <a:rPr lang="en" sz="1300"/>
              <a:t>He exercises regularly and it is interesting to see how that affects his cognitive performance.</a:t>
            </a:r>
            <a:endParaRPr sz="1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Week 2</a:t>
            </a:r>
            <a:endParaRPr/>
          </a:p>
        </p:txBody>
      </p:sp>
      <p:sp>
        <p:nvSpPr>
          <p:cNvPr id="116" name="Google Shape;116;p22"/>
          <p:cNvSpPr txBox="1"/>
          <p:nvPr>
            <p:ph type="title"/>
          </p:nvPr>
        </p:nvSpPr>
        <p:spPr>
          <a:xfrm>
            <a:off x="311700" y="26988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800">
                <a:solidFill>
                  <a:schemeClr val="dk2"/>
                </a:solidFill>
              </a:rPr>
              <a:t>(9/29 - 10/5)</a:t>
            </a:r>
            <a:endParaRPr sz="2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10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122" name="Google Shape;122;p23"/>
          <p:cNvSpPr txBox="1"/>
          <p:nvPr>
            <p:ph idx="1" type="body"/>
          </p:nvPr>
        </p:nvSpPr>
        <p:spPr>
          <a:xfrm>
            <a:off x="4572000" y="441000"/>
            <a:ext cx="4260300" cy="44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Insight:</a:t>
            </a:r>
            <a:endParaRPr sz="1700"/>
          </a:p>
          <a:p>
            <a:pPr indent="0" lvl="0" marL="0" rtl="0" algn="l">
              <a:spcBef>
                <a:spcPts val="1200"/>
              </a:spcBef>
              <a:spcAft>
                <a:spcPts val="1200"/>
              </a:spcAft>
              <a:buNone/>
            </a:pPr>
            <a:r>
              <a:rPr lang="en" sz="1700"/>
              <a:t>This past week was not a regular week. I attended a concert, went to the zoo, recovered from sleep deprivation from hackUMBC, and more. </a:t>
            </a:r>
            <a:r>
              <a:rPr lang="en" sz="1700"/>
              <a:t>There were far more factors that affected my energy throughout the day and productivity than just caffeine and sleep duration.</a:t>
            </a:r>
            <a:r>
              <a:rPr lang="en" sz="1700"/>
              <a:t> When there is an event, it brings excitement and energy, so the amount of caffeine I had that day does not really matter. </a:t>
            </a:r>
            <a:r>
              <a:rPr lang="en" sz="1700"/>
              <a:t>This also affects how much work I get done in a day. When there are events, I have less time to study and be productive.</a:t>
            </a:r>
            <a:endParaRPr sz="1700"/>
          </a:p>
        </p:txBody>
      </p:sp>
      <p:pic>
        <p:nvPicPr>
          <p:cNvPr id="123" name="Google Shape;123;p23" title="Chart"/>
          <p:cNvPicPr preferRelativeResize="0"/>
          <p:nvPr/>
        </p:nvPicPr>
        <p:blipFill>
          <a:blip r:embed="rId4">
            <a:alphaModFix/>
          </a:blip>
          <a:stretch>
            <a:fillRect/>
          </a:stretch>
        </p:blipFill>
        <p:spPr>
          <a:xfrm>
            <a:off x="435125" y="609500"/>
            <a:ext cx="3800787" cy="2350150"/>
          </a:xfrm>
          <a:prstGeom prst="rect">
            <a:avLst/>
          </a:prstGeom>
          <a:noFill/>
          <a:ln>
            <a:noFill/>
          </a:ln>
        </p:spPr>
      </p:pic>
      <p:pic>
        <p:nvPicPr>
          <p:cNvPr id="124" name="Google Shape;124;p23" title="Chart"/>
          <p:cNvPicPr preferRelativeResize="0"/>
          <p:nvPr/>
        </p:nvPicPr>
        <p:blipFill>
          <a:blip r:embed="rId5">
            <a:alphaModFix/>
          </a:blip>
          <a:stretch>
            <a:fillRect/>
          </a:stretch>
        </p:blipFill>
        <p:spPr>
          <a:xfrm>
            <a:off x="435125" y="2832650"/>
            <a:ext cx="3800787" cy="2350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 Reflection</a:t>
            </a:r>
            <a:endParaRPr/>
          </a:p>
        </p:txBody>
      </p:sp>
      <p:sp>
        <p:nvSpPr>
          <p:cNvPr id="130" name="Google Shape;130;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I started visualizing my data using scatter plots rather than using separate line charts. This helps me better understand the relationship between my dependent and independent variables in my study. I also </a:t>
            </a:r>
            <a:r>
              <a:rPr lang="en"/>
              <a:t>incorporated</a:t>
            </a:r>
            <a:r>
              <a:rPr lang="en"/>
              <a:t> a regression line or line of best fit and an R</a:t>
            </a:r>
            <a:r>
              <a:rPr baseline="30000" lang="en"/>
              <a:t>2</a:t>
            </a:r>
            <a:r>
              <a:rPr lang="en"/>
              <a:t> value to better identify the strength of the relationship.</a:t>
            </a:r>
            <a:endParaRPr/>
          </a:p>
          <a:p>
            <a:pPr indent="0" lvl="0" marL="0" rtl="0" algn="l">
              <a:spcBef>
                <a:spcPts val="1200"/>
              </a:spcBef>
              <a:spcAft>
                <a:spcPts val="0"/>
              </a:spcAft>
              <a:buNone/>
            </a:pPr>
            <a:r>
              <a:rPr lang="en"/>
              <a:t>For the Caffeine Intake graph, the R</a:t>
            </a:r>
            <a:r>
              <a:rPr baseline="30000" lang="en"/>
              <a:t>2</a:t>
            </a:r>
            <a:r>
              <a:rPr lang="en"/>
              <a:t> values for Daily Average Energy and Productivity were 0.15 and 0.237, respectively. These values indicate a relatively weak relationship. On the other hand, on the Sleep Duration graph, the R</a:t>
            </a:r>
            <a:r>
              <a:rPr baseline="30000" lang="en"/>
              <a:t>2 </a:t>
            </a:r>
            <a:r>
              <a:rPr lang="en"/>
              <a:t>values were 0.008 for Daily Average Energy and 0.006 for Productivity. These values indicate little to no relationship between Sleep Duration and the two variables I am studying.</a:t>
            </a:r>
            <a:endParaRPr/>
          </a:p>
          <a:p>
            <a:pPr indent="0" lvl="0" marL="0" rtl="0" algn="l">
              <a:spcBef>
                <a:spcPts val="1200"/>
              </a:spcBef>
              <a:spcAft>
                <a:spcPts val="1200"/>
              </a:spcAft>
              <a:buNone/>
            </a:pPr>
            <a:r>
              <a:rPr lang="en"/>
              <a:t>This correlates with what I believe in my insight. With so many things that went on in the past week, I think those events had a larger impact on my energy and productivity than caffeine intake and sleep duration.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a:t>
            </a:r>
            <a:endParaRPr/>
          </a:p>
        </p:txBody>
      </p:sp>
      <p:sp>
        <p:nvSpPr>
          <p:cNvPr id="136" name="Google Shape;136;p25"/>
          <p:cNvSpPr txBox="1"/>
          <p:nvPr>
            <p:ph idx="1" type="body"/>
          </p:nvPr>
        </p:nvSpPr>
        <p:spPr>
          <a:xfrm>
            <a:off x="5922100" y="1050225"/>
            <a:ext cx="2965200" cy="38967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200"/>
              <a:t>Last week was also a very standard week, for me </a:t>
            </a:r>
            <a:r>
              <a:rPr lang="en" sz="1200"/>
              <a:t>consistently</a:t>
            </a:r>
            <a:r>
              <a:rPr lang="en" sz="1200"/>
              <a:t> sleeping and waking up around the same time as the previous week. </a:t>
            </a:r>
            <a:r>
              <a:rPr lang="en" sz="1200"/>
              <a:t>After changing the formatting of my graph it is more apparent that energy levels have a strong </a:t>
            </a:r>
            <a:r>
              <a:rPr lang="en" sz="1200"/>
              <a:t>correlations</a:t>
            </a:r>
            <a:r>
              <a:rPr lang="en" sz="1200"/>
              <a:t> with sleep length with it being consistent to each other. </a:t>
            </a:r>
            <a:endParaRPr sz="1200"/>
          </a:p>
          <a:p>
            <a:pPr indent="0" lvl="0" marL="0" rtl="0" algn="l">
              <a:lnSpc>
                <a:spcPct val="95000"/>
              </a:lnSpc>
              <a:spcBef>
                <a:spcPts val="1200"/>
              </a:spcBef>
              <a:spcAft>
                <a:spcPts val="0"/>
              </a:spcAft>
              <a:buNone/>
            </a:pPr>
            <a:r>
              <a:rPr lang="en" sz="1200"/>
              <a:t>Last Friday was the start of HackUMBC, and I did not get much sleep on Saturday, because I stayed up all night coding, and had no energy at all that day. The moment I returned home I slept early, and recovered all my energy.</a:t>
            </a:r>
            <a:endParaRPr sz="1200"/>
          </a:p>
          <a:p>
            <a:pPr indent="0" lvl="0" marL="0" rtl="0" algn="l">
              <a:lnSpc>
                <a:spcPct val="95000"/>
              </a:lnSpc>
              <a:spcBef>
                <a:spcPts val="1200"/>
              </a:spcBef>
              <a:spcAft>
                <a:spcPts val="1200"/>
              </a:spcAft>
              <a:buNone/>
            </a:pPr>
            <a:r>
              <a:rPr lang="en" sz="1200"/>
              <a:t>This is good insight because the day I had little to no sleep, was the day I had little energy, and it seems that productivity hours is possessing little correlation to the other two measures.</a:t>
            </a:r>
            <a:endParaRPr sz="1200"/>
          </a:p>
        </p:txBody>
      </p:sp>
      <p:pic>
        <p:nvPicPr>
          <p:cNvPr id="137" name="Google Shape;137;p25" title="Chart"/>
          <p:cNvPicPr preferRelativeResize="0"/>
          <p:nvPr/>
        </p:nvPicPr>
        <p:blipFill>
          <a:blip r:embed="rId4">
            <a:alphaModFix/>
          </a:blip>
          <a:stretch>
            <a:fillRect/>
          </a:stretch>
        </p:blipFill>
        <p:spPr>
          <a:xfrm>
            <a:off x="234850" y="1246600"/>
            <a:ext cx="5372676" cy="32281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 Reflection</a:t>
            </a:r>
            <a:endParaRPr/>
          </a:p>
        </p:txBody>
      </p:sp>
      <p:sp>
        <p:nvSpPr>
          <p:cNvPr id="143" name="Google Shape;14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Reflection: My </a:t>
            </a:r>
            <a:r>
              <a:rPr lang="en"/>
              <a:t>takeaway for this week is that my sleep length, really impacts the amount of energy I have in the day, I remember that Saturday was very rough for me because I had no sleep, and needed to work on my project, but I had little to no energy and needed a lot of caffeine to continue my work. </a:t>
            </a:r>
            <a:endParaRPr/>
          </a:p>
          <a:p>
            <a:pPr indent="0" lvl="0" marL="0" rtl="0" algn="l">
              <a:spcBef>
                <a:spcPts val="1200"/>
              </a:spcBef>
              <a:spcAft>
                <a:spcPts val="1200"/>
              </a:spcAft>
              <a:buNone/>
            </a:pPr>
            <a:r>
              <a:rPr lang="en"/>
              <a:t>As I record my hours for productivity it really seems like it has little correlations to my energy,</a:t>
            </a:r>
            <a:r>
              <a:rPr lang="en"/>
              <a:t> or sleep length, but I would like to continue to examine it because I originally thought before going into this, that my energy really affects how long I spend being productive. Usually if I do not have energy I would spend less time being productive vice versa, but it seems my data is suggesting otherwise.</a:t>
            </a:r>
            <a:r>
              <a:rPr lang="en"/>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146450" y="141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Chris Song</a:t>
            </a:r>
            <a:endParaRPr/>
          </a:p>
        </p:txBody>
      </p:sp>
      <p:sp>
        <p:nvSpPr>
          <p:cNvPr id="149" name="Google Shape;149;p27"/>
          <p:cNvSpPr txBox="1"/>
          <p:nvPr>
            <p:ph idx="1" type="body"/>
          </p:nvPr>
        </p:nvSpPr>
        <p:spPr>
          <a:xfrm>
            <a:off x="5360575" y="141900"/>
            <a:ext cx="3569100" cy="4722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Insight:</a:t>
            </a:r>
            <a:endParaRPr/>
          </a:p>
          <a:p>
            <a:pPr indent="-342900" lvl="0" marL="457200" rtl="0" algn="l">
              <a:spcBef>
                <a:spcPts val="1200"/>
              </a:spcBef>
              <a:spcAft>
                <a:spcPts val="0"/>
              </a:spcAft>
              <a:buSzPts val="1800"/>
              <a:buChar char="-"/>
            </a:pPr>
            <a:r>
              <a:rPr lang="en"/>
              <a:t>9/29-10/2 focus time was higher than the latter portion of the week and the exercise duration and </a:t>
            </a:r>
            <a:r>
              <a:rPr lang="en"/>
              <a:t>intensity</a:t>
            </a:r>
            <a:r>
              <a:rPr lang="en"/>
              <a:t> was low</a:t>
            </a:r>
            <a:endParaRPr/>
          </a:p>
          <a:p>
            <a:pPr indent="-342900" lvl="0" marL="457200" rtl="0" algn="l">
              <a:spcBef>
                <a:spcPts val="0"/>
              </a:spcBef>
              <a:spcAft>
                <a:spcPts val="0"/>
              </a:spcAft>
              <a:buSzPts val="1800"/>
              <a:buChar char="-"/>
            </a:pPr>
            <a:r>
              <a:rPr lang="en"/>
              <a:t>Weekends were spent more on exercise than studying </a:t>
            </a:r>
            <a:endParaRPr/>
          </a:p>
          <a:p>
            <a:pPr indent="-342900" lvl="0" marL="457200" rtl="0" algn="l">
              <a:spcBef>
                <a:spcPts val="0"/>
              </a:spcBef>
              <a:spcAft>
                <a:spcPts val="0"/>
              </a:spcAft>
              <a:buSzPts val="1800"/>
              <a:buChar char="-"/>
            </a:pPr>
            <a:r>
              <a:rPr lang="en"/>
              <a:t>Duration does not correlate with intensity of exercise</a:t>
            </a:r>
            <a:endParaRPr/>
          </a:p>
          <a:p>
            <a:pPr indent="0" lvl="0" marL="0" rtl="0" algn="l">
              <a:spcBef>
                <a:spcPts val="1200"/>
              </a:spcBef>
              <a:spcAft>
                <a:spcPts val="0"/>
              </a:spcAft>
              <a:buNone/>
            </a:pPr>
            <a:r>
              <a:rPr lang="en"/>
              <a:t>Reflection: </a:t>
            </a:r>
            <a:endParaRPr/>
          </a:p>
          <a:p>
            <a:pPr indent="-342900" lvl="0" marL="457200" rtl="0" algn="l">
              <a:spcBef>
                <a:spcPts val="1200"/>
              </a:spcBef>
              <a:spcAft>
                <a:spcPts val="0"/>
              </a:spcAft>
              <a:buSzPts val="1800"/>
              <a:buChar char="-"/>
            </a:pPr>
            <a:r>
              <a:rPr lang="en"/>
              <a:t>I will be more intentional with my physical activity </a:t>
            </a:r>
            <a:r>
              <a:rPr lang="en"/>
              <a:t>before studying</a:t>
            </a:r>
            <a:endParaRPr/>
          </a:p>
        </p:txBody>
      </p:sp>
      <p:pic>
        <p:nvPicPr>
          <p:cNvPr id="150" name="Google Shape;150;p27" title="chart(1).png"/>
          <p:cNvPicPr preferRelativeResize="0"/>
          <p:nvPr/>
        </p:nvPicPr>
        <p:blipFill>
          <a:blip r:embed="rId4">
            <a:alphaModFix/>
          </a:blip>
          <a:stretch>
            <a:fillRect/>
          </a:stretch>
        </p:blipFill>
        <p:spPr>
          <a:xfrm>
            <a:off x="146450" y="926125"/>
            <a:ext cx="5135900" cy="3533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Chris Song Reflection cont. </a:t>
            </a:r>
            <a:endParaRPr/>
          </a:p>
        </p:txBody>
      </p:sp>
      <p:sp>
        <p:nvSpPr>
          <p:cNvPr id="156" name="Google Shape;15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 tried to be more intentional this week with my intensity of working out before </a:t>
            </a:r>
            <a:r>
              <a:rPr lang="en"/>
              <a:t>exercising. The weekdays I spent doing a bit of exercise before deciding to study/academic work, which went well. With the days on the weekday, I was consistent with my mental goal of hitting 2 hours, in which was a good time for me to stop naturally as I was getting tired. On the weekend, I decided to spend more time and being less intentional before studying. This stress on the body was a lot, and during the initial part of studying I was focused and then my focus dropped substantially, ultimately leading me to stop. </a:t>
            </a:r>
            <a:r>
              <a:rPr lang="en"/>
              <a:t>I think this experiment has been going well and providing good insights into how I can use exercise to my advantage.</a:t>
            </a:r>
            <a:r>
              <a:rPr lang="en"/>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Group Reflection</a:t>
            </a:r>
            <a:endParaRPr/>
          </a:p>
        </p:txBody>
      </p:sp>
      <p:sp>
        <p:nvSpPr>
          <p:cNvPr id="162" name="Google Shape;162;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3"/>
              <a:buNone/>
            </a:pPr>
            <a:r>
              <a:t/>
            </a:r>
            <a:endParaRPr sz="1130"/>
          </a:p>
          <a:p>
            <a:pPr indent="0" lvl="0" marL="0" rtl="0" algn="l">
              <a:lnSpc>
                <a:spcPct val="95000"/>
              </a:lnSpc>
              <a:spcBef>
                <a:spcPts val="1200"/>
              </a:spcBef>
              <a:spcAft>
                <a:spcPts val="0"/>
              </a:spcAft>
              <a:buSzPts val="853"/>
              <a:buNone/>
            </a:pPr>
            <a:r>
              <a:rPr lang="en" sz="1130"/>
              <a:t>DT:</a:t>
            </a:r>
            <a:endParaRPr sz="1130"/>
          </a:p>
          <a:p>
            <a:pPr indent="0" lvl="0" marL="0" rtl="0" algn="l">
              <a:lnSpc>
                <a:spcPct val="95000"/>
              </a:lnSpc>
              <a:spcBef>
                <a:spcPts val="1200"/>
              </a:spcBef>
              <a:spcAft>
                <a:spcPts val="0"/>
              </a:spcAft>
              <a:buSzPts val="853"/>
              <a:buNone/>
            </a:pPr>
            <a:r>
              <a:rPr lang="en" sz="975"/>
              <a:t>- I know Chris &amp; Steven both participated in HackUMBC, so it was interesting to see how it affected their data, because I know for me it was a huge outlier in my datasheet</a:t>
            </a:r>
            <a:endParaRPr sz="975"/>
          </a:p>
          <a:p>
            <a:pPr indent="0" lvl="0" marL="0" rtl="0" algn="l">
              <a:lnSpc>
                <a:spcPct val="95000"/>
              </a:lnSpc>
              <a:spcBef>
                <a:spcPts val="1200"/>
              </a:spcBef>
              <a:spcAft>
                <a:spcPts val="0"/>
              </a:spcAft>
              <a:buSzPts val="853"/>
              <a:buNone/>
            </a:pPr>
            <a:r>
              <a:rPr lang="en" sz="975"/>
              <a:t>- </a:t>
            </a:r>
            <a:r>
              <a:rPr lang="en" sz="975"/>
              <a:t>Steven &amp; I data sheets have a lot of similarities to it the more I see, which is nice because I can ask for his advice and his approach towards data collection. Chris datasheet motivates me in a way because I like how consistent he is, which motivates me to match that energy.</a:t>
            </a:r>
            <a:endParaRPr sz="975"/>
          </a:p>
          <a:p>
            <a:pPr indent="0" lvl="0" marL="0" rtl="0" algn="l">
              <a:lnSpc>
                <a:spcPct val="95000"/>
              </a:lnSpc>
              <a:spcBef>
                <a:spcPts val="1200"/>
              </a:spcBef>
              <a:spcAft>
                <a:spcPts val="0"/>
              </a:spcAft>
              <a:buSzPts val="853"/>
              <a:buNone/>
            </a:pPr>
            <a:r>
              <a:rPr lang="en" sz="1130"/>
              <a:t>Chris:</a:t>
            </a:r>
            <a:endParaRPr sz="1130"/>
          </a:p>
          <a:p>
            <a:pPr indent="-290513" lvl="0" marL="457200" rtl="0" algn="l">
              <a:lnSpc>
                <a:spcPct val="95000"/>
              </a:lnSpc>
              <a:spcBef>
                <a:spcPts val="1200"/>
              </a:spcBef>
              <a:spcAft>
                <a:spcPts val="0"/>
              </a:spcAft>
              <a:buSzPts val="975"/>
              <a:buChar char="-"/>
            </a:pPr>
            <a:r>
              <a:rPr lang="en" sz="975"/>
              <a:t>DT input his data when he participated in HackUMBC which highlighted a great dip into his sleep. This lead to very low energy, but a </a:t>
            </a:r>
            <a:r>
              <a:rPr lang="en" sz="975"/>
              <a:t>surprising</a:t>
            </a:r>
            <a:r>
              <a:rPr lang="en" sz="975"/>
              <a:t> amount of productivity. I believe that it he believes his productivity was high because there was a time constraint in his situation</a:t>
            </a:r>
            <a:endParaRPr sz="975"/>
          </a:p>
          <a:p>
            <a:pPr indent="-290513" lvl="0" marL="457200" rtl="0" algn="l">
              <a:lnSpc>
                <a:spcPct val="95000"/>
              </a:lnSpc>
              <a:spcBef>
                <a:spcPts val="0"/>
              </a:spcBef>
              <a:spcAft>
                <a:spcPts val="0"/>
              </a:spcAft>
              <a:buSzPts val="975"/>
              <a:buChar char="-"/>
            </a:pPr>
            <a:r>
              <a:rPr lang="en" sz="975"/>
              <a:t>Steven had a fun and busy weekend, so seeing his energy not be affected that much makes sense to me. He mentions factors outside of </a:t>
            </a:r>
            <a:r>
              <a:rPr lang="en" sz="975"/>
              <a:t>caffeine, such as excitement, to provide him energy even if he was already low on energy.</a:t>
            </a:r>
            <a:endParaRPr sz="975"/>
          </a:p>
          <a:p>
            <a:pPr indent="0" lvl="0" marL="0" rtl="0" algn="l">
              <a:lnSpc>
                <a:spcPct val="95000"/>
              </a:lnSpc>
              <a:spcBef>
                <a:spcPts val="1200"/>
              </a:spcBef>
              <a:spcAft>
                <a:spcPts val="0"/>
              </a:spcAft>
              <a:buSzPts val="853"/>
              <a:buNone/>
            </a:pPr>
            <a:r>
              <a:rPr lang="en" sz="975"/>
              <a:t>Steven</a:t>
            </a:r>
            <a:endParaRPr sz="975"/>
          </a:p>
          <a:p>
            <a:pPr indent="-290513" lvl="0" marL="457200" rtl="0" algn="l">
              <a:lnSpc>
                <a:spcPct val="95000"/>
              </a:lnSpc>
              <a:spcBef>
                <a:spcPts val="1200"/>
              </a:spcBef>
              <a:spcAft>
                <a:spcPts val="0"/>
              </a:spcAft>
              <a:buSzPts val="975"/>
              <a:buChar char="-"/>
            </a:pPr>
            <a:r>
              <a:rPr lang="en" sz="975"/>
              <a:t>DT, Chris, and I all participated in hackUMBC the past weekend, so there would be similarities in our data in that aspect.</a:t>
            </a:r>
            <a:endParaRPr sz="975"/>
          </a:p>
          <a:p>
            <a:pPr indent="-290513" lvl="0" marL="457200" rtl="0" algn="l">
              <a:lnSpc>
                <a:spcPct val="95000"/>
              </a:lnSpc>
              <a:spcBef>
                <a:spcPts val="0"/>
              </a:spcBef>
              <a:spcAft>
                <a:spcPts val="0"/>
              </a:spcAft>
              <a:buSzPts val="975"/>
              <a:buChar char="-"/>
            </a:pPr>
            <a:r>
              <a:rPr lang="en" sz="975"/>
              <a:t>DT has very consistent sleep, which I lack. Thus, I want to be more like him and get better sleep.</a:t>
            </a:r>
            <a:endParaRPr sz="975"/>
          </a:p>
          <a:p>
            <a:pPr indent="-290513" lvl="0" marL="457200" rtl="0" algn="l">
              <a:lnSpc>
                <a:spcPct val="95000"/>
              </a:lnSpc>
              <a:spcBef>
                <a:spcPts val="0"/>
              </a:spcBef>
              <a:spcAft>
                <a:spcPts val="0"/>
              </a:spcAft>
              <a:buSzPts val="975"/>
              <a:buChar char="-"/>
            </a:pPr>
            <a:r>
              <a:rPr lang="en" sz="975"/>
              <a:t>Chris spends a lot of time on exercise which I also lack, I want to be able to exercise like him.</a:t>
            </a:r>
            <a:endParaRPr sz="975"/>
          </a:p>
          <a:p>
            <a:pPr indent="0" lvl="0" marL="0" rtl="0" algn="l">
              <a:lnSpc>
                <a:spcPct val="95000"/>
              </a:lnSpc>
              <a:spcBef>
                <a:spcPts val="1200"/>
              </a:spcBef>
              <a:spcAft>
                <a:spcPts val="1200"/>
              </a:spcAft>
              <a:buSzPts val="853"/>
              <a:buNone/>
            </a:pPr>
            <a:r>
              <a:t/>
            </a:r>
            <a:endParaRPr sz="1595"/>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Week 3</a:t>
            </a:r>
            <a:endParaRPr/>
          </a:p>
        </p:txBody>
      </p:sp>
      <p:sp>
        <p:nvSpPr>
          <p:cNvPr id="168" name="Google Shape;168;p30"/>
          <p:cNvSpPr txBox="1"/>
          <p:nvPr>
            <p:ph type="title"/>
          </p:nvPr>
        </p:nvSpPr>
        <p:spPr>
          <a:xfrm>
            <a:off x="311700" y="26988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800">
                <a:solidFill>
                  <a:schemeClr val="dk2"/>
                </a:solidFill>
              </a:rPr>
              <a:t>(10/6 - 10/12)</a:t>
            </a:r>
            <a:endParaRPr sz="2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10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174" name="Google Shape;174;p31"/>
          <p:cNvSpPr txBox="1"/>
          <p:nvPr>
            <p:ph idx="1" type="body"/>
          </p:nvPr>
        </p:nvSpPr>
        <p:spPr>
          <a:xfrm>
            <a:off x="4572000" y="441000"/>
            <a:ext cx="4260300" cy="44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Insight:</a:t>
            </a:r>
            <a:endParaRPr sz="1700"/>
          </a:p>
          <a:p>
            <a:pPr indent="0" lvl="0" marL="0" rtl="0" algn="l">
              <a:spcBef>
                <a:spcPts val="1200"/>
              </a:spcBef>
              <a:spcAft>
                <a:spcPts val="0"/>
              </a:spcAft>
              <a:buNone/>
            </a:pPr>
            <a:r>
              <a:rPr lang="en" sz="1700"/>
              <a:t>This past week was more like a typical week for me. I exercised a bit, went to classes and work, and studied. However, I have exams during the week following this week, so I had to put more time into studying. Since I had more time that wasn’t preoccupied by external factors like events, I could focus more on studying and doing other productive things.</a:t>
            </a:r>
            <a:endParaRPr sz="1700"/>
          </a:p>
          <a:p>
            <a:pPr indent="0" lvl="0" marL="0" rtl="0" algn="l">
              <a:spcBef>
                <a:spcPts val="1200"/>
              </a:spcBef>
              <a:spcAft>
                <a:spcPts val="0"/>
              </a:spcAft>
              <a:buNone/>
            </a:pPr>
            <a:r>
              <a:t/>
            </a:r>
            <a:endParaRPr sz="1700"/>
          </a:p>
          <a:p>
            <a:pPr indent="0" lvl="0" marL="0" rtl="0" algn="l">
              <a:spcBef>
                <a:spcPts val="1200"/>
              </a:spcBef>
              <a:spcAft>
                <a:spcPts val="1200"/>
              </a:spcAft>
              <a:buNone/>
            </a:pPr>
            <a:r>
              <a:t/>
            </a:r>
            <a:endParaRPr sz="1700"/>
          </a:p>
        </p:txBody>
      </p:sp>
      <p:pic>
        <p:nvPicPr>
          <p:cNvPr id="175" name="Google Shape;175;p31" title="Chart"/>
          <p:cNvPicPr preferRelativeResize="0"/>
          <p:nvPr/>
        </p:nvPicPr>
        <p:blipFill>
          <a:blip r:embed="rId3">
            <a:alphaModFix/>
          </a:blip>
          <a:stretch>
            <a:fillRect/>
          </a:stretch>
        </p:blipFill>
        <p:spPr>
          <a:xfrm>
            <a:off x="311700" y="682075"/>
            <a:ext cx="3275985" cy="2025651"/>
          </a:xfrm>
          <a:prstGeom prst="rect">
            <a:avLst/>
          </a:prstGeom>
          <a:noFill/>
          <a:ln>
            <a:noFill/>
          </a:ln>
        </p:spPr>
      </p:pic>
      <p:pic>
        <p:nvPicPr>
          <p:cNvPr id="176" name="Google Shape;176;p31" title="Chart"/>
          <p:cNvPicPr preferRelativeResize="0"/>
          <p:nvPr/>
        </p:nvPicPr>
        <p:blipFill>
          <a:blip r:embed="rId4">
            <a:alphaModFix/>
          </a:blip>
          <a:stretch>
            <a:fillRect/>
          </a:stretch>
        </p:blipFill>
        <p:spPr>
          <a:xfrm>
            <a:off x="311700" y="2746726"/>
            <a:ext cx="3446319" cy="21309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 Reflection</a:t>
            </a:r>
            <a:endParaRPr/>
          </a:p>
        </p:txBody>
      </p:sp>
      <p:sp>
        <p:nvSpPr>
          <p:cNvPr id="182" name="Google Shape;182;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This week I visualized both my caffeine and sleep duration data as </a:t>
            </a:r>
            <a:r>
              <a:rPr lang="en" sz="1400"/>
              <a:t>scatter plots</a:t>
            </a:r>
            <a:r>
              <a:rPr lang="en" sz="1400"/>
              <a:t> since the data for both were not clustered. Now, the data are properly visualized. Again, I i</a:t>
            </a:r>
            <a:r>
              <a:rPr lang="en" sz="1400"/>
              <a:t>ncorporated a regression line or line of best fit and an R</a:t>
            </a:r>
            <a:r>
              <a:rPr baseline="30000" lang="en" sz="1400"/>
              <a:t>2</a:t>
            </a:r>
            <a:r>
              <a:rPr lang="en" sz="1400"/>
              <a:t> value to better identify the strength of the relationship.</a:t>
            </a:r>
            <a:endParaRPr sz="1400"/>
          </a:p>
          <a:p>
            <a:pPr indent="0" lvl="0" marL="0" rtl="0" algn="l">
              <a:spcBef>
                <a:spcPts val="1200"/>
              </a:spcBef>
              <a:spcAft>
                <a:spcPts val="0"/>
              </a:spcAft>
              <a:buClr>
                <a:schemeClr val="dk1"/>
              </a:buClr>
              <a:buSzPts val="1100"/>
              <a:buFont typeface="Arial"/>
              <a:buNone/>
            </a:pPr>
            <a:r>
              <a:rPr lang="en" sz="1400"/>
              <a:t>For the Caffeine Intake graph, the R</a:t>
            </a:r>
            <a:r>
              <a:rPr baseline="30000" lang="en" sz="1400"/>
              <a:t>2</a:t>
            </a:r>
            <a:r>
              <a:rPr lang="en" sz="1400"/>
              <a:t> values for Daily Average Energy and Productivity were 0.22 and 0.062, respectively. These values indicate a relatively weak relationship, but also show that caffeine had little to no influence on my productivity. On the other hand, the R</a:t>
            </a:r>
            <a:r>
              <a:rPr baseline="30000" lang="en" sz="1400"/>
              <a:t>2</a:t>
            </a:r>
            <a:r>
              <a:rPr lang="en" sz="1400"/>
              <a:t> values on the Sleep Duration graph were 0.409 for Daily Average Energy and 0.568 for Productivity. These values indicate that there is a relationship between my sleep duration and my energy and productivity. </a:t>
            </a:r>
            <a:r>
              <a:rPr lang="en" sz="1400"/>
              <a:t>The lines are both positive, so it indicates that more sleep correlates with more energy and productivity. I do feel this throughout the week because on the days where I get more sleep, I feel more energetic and get more work done.</a:t>
            </a:r>
            <a:endParaRPr sz="1400"/>
          </a:p>
          <a:p>
            <a:pPr indent="0" lvl="0" marL="0" rtl="0" algn="l">
              <a:spcBef>
                <a:spcPts val="1200"/>
              </a:spcBef>
              <a:spcAft>
                <a:spcPts val="0"/>
              </a:spcAft>
              <a:buClr>
                <a:schemeClr val="dk1"/>
              </a:buClr>
              <a:buSzPts val="1100"/>
              <a:buFont typeface="Arial"/>
              <a:buNone/>
            </a:pPr>
            <a:r>
              <a:rPr lang="en" sz="1400"/>
              <a:t>To relate back to my insight, I believe that this past week’s lack of events also allowed me to be more productive. With less things going on, I can focus more on studying and getting other things done.</a:t>
            </a:r>
            <a:endParaRPr sz="1400"/>
          </a:p>
          <a:p>
            <a:pPr indent="0" lvl="0" marL="0" rtl="0" algn="l">
              <a:spcBef>
                <a:spcPts val="1200"/>
              </a:spcBef>
              <a:spcAft>
                <a:spcPts val="1200"/>
              </a:spcAft>
              <a:buNone/>
            </a:pPr>
            <a:r>
              <a:t/>
            </a:r>
            <a:endParaRPr sz="1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11700" y="10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188" name="Google Shape;188;p33"/>
          <p:cNvSpPr txBox="1"/>
          <p:nvPr>
            <p:ph idx="1" type="body"/>
          </p:nvPr>
        </p:nvSpPr>
        <p:spPr>
          <a:xfrm>
            <a:off x="4572000" y="169150"/>
            <a:ext cx="4260300" cy="44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Insight:</a:t>
            </a:r>
            <a:endParaRPr sz="1600"/>
          </a:p>
          <a:p>
            <a:pPr indent="0" lvl="0" marL="0" rtl="0" algn="l">
              <a:spcBef>
                <a:spcPts val="1200"/>
              </a:spcBef>
              <a:spcAft>
                <a:spcPts val="0"/>
              </a:spcAft>
              <a:buNone/>
            </a:pPr>
            <a:r>
              <a:rPr lang="en" sz="1600"/>
              <a:t>Dr. Chen suggested to analyze the relationship between energy level and productivity, so I did so through a scatter plot.</a:t>
            </a:r>
            <a:endParaRPr sz="1600"/>
          </a:p>
          <a:p>
            <a:pPr indent="0" lvl="0" marL="0" rtl="0" algn="l">
              <a:spcBef>
                <a:spcPts val="1200"/>
              </a:spcBef>
              <a:spcAft>
                <a:spcPts val="0"/>
              </a:spcAft>
              <a:buNone/>
            </a:pPr>
            <a:r>
              <a:rPr lang="en" sz="1600"/>
              <a:t>Reflection:</a:t>
            </a:r>
            <a:endParaRPr sz="1600"/>
          </a:p>
          <a:p>
            <a:pPr indent="0" lvl="0" marL="0" rtl="0" algn="l">
              <a:spcBef>
                <a:spcPts val="1200"/>
              </a:spcBef>
              <a:spcAft>
                <a:spcPts val="0"/>
              </a:spcAft>
              <a:buNone/>
            </a:pPr>
            <a:r>
              <a:rPr lang="en" sz="1600"/>
              <a:t>This scatter plot visualizes the relationship between the two factors as well as provides a regression line with an R</a:t>
            </a:r>
            <a:r>
              <a:rPr baseline="30000" lang="en" sz="1600"/>
              <a:t>2</a:t>
            </a:r>
            <a:r>
              <a:rPr lang="en" sz="1600"/>
              <a:t> value. </a:t>
            </a:r>
            <a:r>
              <a:rPr lang="en" sz="1600"/>
              <a:t>Based on this, I conclude that there is a positive relationship between my productivity and daily average energy. I do feel this correlation since on days that I feel energetic, I study more and do other tasks.</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t/>
            </a:r>
            <a:endParaRPr sz="1600"/>
          </a:p>
        </p:txBody>
      </p:sp>
      <p:pic>
        <p:nvPicPr>
          <p:cNvPr id="189" name="Google Shape;189;p33" title="Chart"/>
          <p:cNvPicPr preferRelativeResize="0"/>
          <p:nvPr/>
        </p:nvPicPr>
        <p:blipFill>
          <a:blip r:embed="rId4">
            <a:alphaModFix/>
          </a:blip>
          <a:stretch>
            <a:fillRect/>
          </a:stretch>
        </p:blipFill>
        <p:spPr>
          <a:xfrm>
            <a:off x="152400" y="834475"/>
            <a:ext cx="4267200" cy="263855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a:t>
            </a:r>
            <a:endParaRPr/>
          </a:p>
        </p:txBody>
      </p:sp>
      <p:sp>
        <p:nvSpPr>
          <p:cNvPr id="195" name="Google Shape;195;p34"/>
          <p:cNvSpPr txBox="1"/>
          <p:nvPr>
            <p:ph idx="1" type="body"/>
          </p:nvPr>
        </p:nvSpPr>
        <p:spPr>
          <a:xfrm>
            <a:off x="4915875" y="933300"/>
            <a:ext cx="2965200" cy="38967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None/>
            </a:pPr>
            <a:r>
              <a:rPr lang="en" sz="1400"/>
              <a:t>Recently I’ve been going to bed a lot later in the day due to my recent schedule change for work. But it seems like, I have been getting adequate sleep still and my energy level seems to be high correlating with my good sleep durations. In addition to this </a:t>
            </a:r>
            <a:r>
              <a:rPr lang="en" sz="1400"/>
              <a:t>I made a second graph to show the correlation between my energy levels and productivity hours. It seems like the productivity hours, has little to no correlation with energy levels. This is good insight because it means even im tired or very energetic my productivity does not change.</a:t>
            </a:r>
            <a:endParaRPr sz="1400"/>
          </a:p>
        </p:txBody>
      </p:sp>
      <p:pic>
        <p:nvPicPr>
          <p:cNvPr id="196" name="Google Shape;196;p34" title="Chart"/>
          <p:cNvPicPr preferRelativeResize="0"/>
          <p:nvPr/>
        </p:nvPicPr>
        <p:blipFill>
          <a:blip r:embed="rId4">
            <a:alphaModFix/>
          </a:blip>
          <a:stretch>
            <a:fillRect/>
          </a:stretch>
        </p:blipFill>
        <p:spPr>
          <a:xfrm>
            <a:off x="132000" y="530670"/>
            <a:ext cx="3412026" cy="2109775"/>
          </a:xfrm>
          <a:prstGeom prst="rect">
            <a:avLst/>
          </a:prstGeom>
          <a:noFill/>
          <a:ln>
            <a:noFill/>
          </a:ln>
        </p:spPr>
      </p:pic>
      <p:pic>
        <p:nvPicPr>
          <p:cNvPr id="197" name="Google Shape;197;p34"/>
          <p:cNvPicPr preferRelativeResize="0"/>
          <p:nvPr/>
        </p:nvPicPr>
        <p:blipFill>
          <a:blip r:embed="rId5">
            <a:alphaModFix/>
          </a:blip>
          <a:stretch>
            <a:fillRect/>
          </a:stretch>
        </p:blipFill>
        <p:spPr>
          <a:xfrm>
            <a:off x="152400" y="2792845"/>
            <a:ext cx="3584755" cy="219825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 Reflection</a:t>
            </a:r>
            <a:endParaRPr/>
          </a:p>
        </p:txBody>
      </p:sp>
      <p:sp>
        <p:nvSpPr>
          <p:cNvPr id="203" name="Google Shape;203;p35"/>
          <p:cNvSpPr txBox="1"/>
          <p:nvPr>
            <p:ph idx="1" type="body"/>
          </p:nvPr>
        </p:nvSpPr>
        <p:spPr>
          <a:xfrm>
            <a:off x="311700" y="11116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I’ve managed to maintain a fairly consistent amount of sleep each night. </a:t>
            </a:r>
            <a:r>
              <a:rPr lang="en"/>
              <a:t>Looking at the first chart, it’s clear that my sleep duration aligns closely with my energy levels — on days when I get more sleep, my energy tends to be higher, and vice versa. This reinforces the idea that quality and consistency of sleep have a direct impact on how energized I feel throughout the day.</a:t>
            </a:r>
            <a:endParaRPr/>
          </a:p>
          <a:p>
            <a:pPr indent="0" lvl="0" marL="0" rtl="0" algn="l">
              <a:spcBef>
                <a:spcPts val="1200"/>
              </a:spcBef>
              <a:spcAft>
                <a:spcPts val="1200"/>
              </a:spcAft>
              <a:buNone/>
            </a:pPr>
            <a:r>
              <a:rPr lang="en"/>
              <a:t>For the second chart there doesn’t seem to be a strong correlation. Even on days where my energy level was low I had a high amount of productivity. </a:t>
            </a:r>
            <a:r>
              <a:rPr lang="en"/>
              <a:t>I hope I can try to manage my time better so I can have high productivity hours on days I am feeling energetic.</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6"/>
          <p:cNvSpPr txBox="1"/>
          <p:nvPr>
            <p:ph type="title"/>
          </p:nvPr>
        </p:nvSpPr>
        <p:spPr>
          <a:xfrm>
            <a:off x="146450" y="141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Chris Song</a:t>
            </a:r>
            <a:endParaRPr/>
          </a:p>
        </p:txBody>
      </p:sp>
      <p:sp>
        <p:nvSpPr>
          <p:cNvPr id="209" name="Google Shape;209;p36"/>
          <p:cNvSpPr txBox="1"/>
          <p:nvPr>
            <p:ph idx="1" type="body"/>
          </p:nvPr>
        </p:nvSpPr>
        <p:spPr>
          <a:xfrm>
            <a:off x="5360575" y="141900"/>
            <a:ext cx="3569100" cy="50016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Insight: </a:t>
            </a:r>
            <a:endParaRPr/>
          </a:p>
          <a:p>
            <a:pPr indent="-334328" lvl="0" marL="457200" rtl="0" algn="l">
              <a:spcBef>
                <a:spcPts val="1200"/>
              </a:spcBef>
              <a:spcAft>
                <a:spcPts val="0"/>
              </a:spcAft>
              <a:buSzPct val="100000"/>
              <a:buChar char="-"/>
            </a:pPr>
            <a:r>
              <a:rPr lang="en"/>
              <a:t>Peak focus: 10/8/, 10/10 - Focus duration was 150 minutes; ~40 minutes of exercise</a:t>
            </a:r>
            <a:endParaRPr/>
          </a:p>
          <a:p>
            <a:pPr indent="-334328" lvl="0" marL="457200" rtl="0" algn="l">
              <a:spcBef>
                <a:spcPts val="0"/>
              </a:spcBef>
              <a:spcAft>
                <a:spcPts val="0"/>
              </a:spcAft>
              <a:buSzPct val="100000"/>
              <a:buChar char="-"/>
            </a:pPr>
            <a:r>
              <a:rPr lang="en"/>
              <a:t>On days with shorter workouts (around 30 minutes on 10/9 and 10/11), focus duration was significantly lower.</a:t>
            </a:r>
            <a:endParaRPr/>
          </a:p>
          <a:p>
            <a:pPr indent="0" lvl="0" marL="0" rtl="0" algn="l">
              <a:spcBef>
                <a:spcPts val="1200"/>
              </a:spcBef>
              <a:spcAft>
                <a:spcPts val="0"/>
              </a:spcAft>
              <a:buNone/>
            </a:pPr>
            <a:r>
              <a:rPr lang="en"/>
              <a:t>Reflection: </a:t>
            </a:r>
            <a:endParaRPr/>
          </a:p>
          <a:p>
            <a:pPr indent="-334328" lvl="0" marL="457200" rtl="0" algn="l">
              <a:spcBef>
                <a:spcPts val="1200"/>
              </a:spcBef>
              <a:spcAft>
                <a:spcPts val="0"/>
              </a:spcAft>
              <a:buSzPct val="100000"/>
              <a:buChar char="-"/>
            </a:pPr>
            <a:r>
              <a:rPr lang="en"/>
              <a:t>My shorter workout days (~30 min) </a:t>
            </a:r>
            <a:r>
              <a:rPr lang="en"/>
              <a:t>suggests that while some exercise is beneficial, there may be an optimal duration to maximize cognitive returns.</a:t>
            </a:r>
            <a:endParaRPr/>
          </a:p>
        </p:txBody>
      </p:sp>
      <p:pic>
        <p:nvPicPr>
          <p:cNvPr id="210" name="Google Shape;210;p36" title="chart(2).png"/>
          <p:cNvPicPr preferRelativeResize="0"/>
          <p:nvPr/>
        </p:nvPicPr>
        <p:blipFill>
          <a:blip r:embed="rId4">
            <a:alphaModFix/>
          </a:blip>
          <a:stretch>
            <a:fillRect/>
          </a:stretch>
        </p:blipFill>
        <p:spPr>
          <a:xfrm>
            <a:off x="152400" y="867000"/>
            <a:ext cx="5055776" cy="312615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Chris Song Reflection cont. </a:t>
            </a:r>
            <a:endParaRPr/>
          </a:p>
        </p:txBody>
      </p:sp>
      <p:sp>
        <p:nvSpPr>
          <p:cNvPr id="216" name="Google Shape;216;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This week I was more intentional as Professor Chen mentioned about planning focus times more </a:t>
            </a:r>
            <a:r>
              <a:rPr lang="en"/>
              <a:t>deliberately</a:t>
            </a:r>
            <a:r>
              <a:rPr lang="en"/>
              <a:t>. My two most productive days were days where exercise sessions were approximately 40 minutes, placing them in the middle of my proposed 20-60 minute window. </a:t>
            </a:r>
            <a:r>
              <a:rPr lang="en"/>
              <a:t>The intensity of my workouts on peak focus days was moderate. This could indicate that for enhancing deep work, consistency and adequate duration of exercise may be more critical than pushing for maximum intensity, which can sometimes lead to fatigue. </a:t>
            </a:r>
            <a:r>
              <a:rPr lang="en"/>
              <a:t>I believe that my experiment so far of physical activity before deep work has shown increases of focus by the circulation, delivering more oxygen and essential nutrients to the brain.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Group Reflection</a:t>
            </a:r>
            <a:endParaRPr/>
          </a:p>
        </p:txBody>
      </p:sp>
      <p:sp>
        <p:nvSpPr>
          <p:cNvPr id="222" name="Google Shape;222;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3"/>
              <a:buNone/>
            </a:pPr>
            <a:r>
              <a:rPr lang="en" sz="1130"/>
              <a:t>DT: </a:t>
            </a:r>
            <a:endParaRPr sz="1130"/>
          </a:p>
          <a:p>
            <a:pPr indent="-300355" lvl="0" marL="457200" rtl="0" algn="l">
              <a:lnSpc>
                <a:spcPct val="95000"/>
              </a:lnSpc>
              <a:spcBef>
                <a:spcPts val="1200"/>
              </a:spcBef>
              <a:spcAft>
                <a:spcPts val="0"/>
              </a:spcAft>
              <a:buSzPts val="1130"/>
              <a:buChar char="-"/>
            </a:pPr>
            <a:r>
              <a:rPr lang="en" sz="1130"/>
              <a:t>I saw that Steven </a:t>
            </a:r>
            <a:r>
              <a:rPr lang="en" sz="1130"/>
              <a:t>switched</a:t>
            </a:r>
            <a:r>
              <a:rPr lang="en" sz="1130"/>
              <a:t> up the type of graph he used, based on Dr.Chen’s advice maybe I should follow his example and incorporate a scatter plot to show the correlation between productivity and energy levels.</a:t>
            </a:r>
            <a:endParaRPr sz="1130"/>
          </a:p>
          <a:p>
            <a:pPr indent="-300355" lvl="0" marL="457200" rtl="0" algn="l">
              <a:lnSpc>
                <a:spcPct val="95000"/>
              </a:lnSpc>
              <a:spcBef>
                <a:spcPts val="0"/>
              </a:spcBef>
              <a:spcAft>
                <a:spcPts val="0"/>
              </a:spcAft>
              <a:buSzPts val="1130"/>
              <a:buChar char="-"/>
            </a:pPr>
            <a:r>
              <a:rPr lang="en" sz="1130"/>
              <a:t>C</a:t>
            </a:r>
            <a:r>
              <a:rPr lang="en" sz="1130"/>
              <a:t>hris is very motivational and a really good group mate to work with, he is constantly checking in, and reminding me to keep track of my data, he seems really organized and on top of this assignment.</a:t>
            </a:r>
            <a:endParaRPr sz="1130"/>
          </a:p>
          <a:p>
            <a:pPr indent="0" lvl="0" marL="0" rtl="0" algn="l">
              <a:lnSpc>
                <a:spcPct val="95000"/>
              </a:lnSpc>
              <a:spcBef>
                <a:spcPts val="1200"/>
              </a:spcBef>
              <a:spcAft>
                <a:spcPts val="0"/>
              </a:spcAft>
              <a:buSzPts val="853"/>
              <a:buNone/>
            </a:pPr>
            <a:r>
              <a:rPr lang="en" sz="1130"/>
              <a:t>Chris:</a:t>
            </a:r>
            <a:endParaRPr sz="1130"/>
          </a:p>
          <a:p>
            <a:pPr indent="-300355" lvl="0" marL="457200" rtl="0" algn="l">
              <a:lnSpc>
                <a:spcPct val="95000"/>
              </a:lnSpc>
              <a:spcBef>
                <a:spcPts val="1200"/>
              </a:spcBef>
              <a:spcAft>
                <a:spcPts val="0"/>
              </a:spcAft>
              <a:buSzPts val="1130"/>
              <a:buChar char="-"/>
            </a:pPr>
            <a:r>
              <a:rPr lang="en" sz="1130"/>
              <a:t>Steven’s data showed that his sleep was an important factor in energy and productivity. This is something that I also have encountered in my day to day life as well as when I see him occasionally. </a:t>
            </a:r>
            <a:endParaRPr sz="1130"/>
          </a:p>
          <a:p>
            <a:pPr indent="-300355" lvl="0" marL="457200" rtl="0" algn="l">
              <a:lnSpc>
                <a:spcPct val="95000"/>
              </a:lnSpc>
              <a:spcBef>
                <a:spcPts val="0"/>
              </a:spcBef>
              <a:spcAft>
                <a:spcPts val="0"/>
              </a:spcAft>
              <a:buSzPts val="1130"/>
              <a:buChar char="-"/>
            </a:pPr>
            <a:r>
              <a:rPr lang="en" sz="1130"/>
              <a:t>DT’s data </a:t>
            </a:r>
            <a:r>
              <a:rPr lang="en" sz="1130"/>
              <a:t>strongly supports that energy does not lead to productivity. He seemed to be pushed more to be productive when he was tired. </a:t>
            </a:r>
            <a:endParaRPr sz="1130"/>
          </a:p>
          <a:p>
            <a:pPr indent="0" lvl="0" marL="0" rtl="0" algn="l">
              <a:lnSpc>
                <a:spcPct val="95000"/>
              </a:lnSpc>
              <a:spcBef>
                <a:spcPts val="1200"/>
              </a:spcBef>
              <a:spcAft>
                <a:spcPts val="0"/>
              </a:spcAft>
              <a:buNone/>
            </a:pPr>
            <a:r>
              <a:rPr lang="en" sz="975"/>
              <a:t>Steven</a:t>
            </a:r>
            <a:endParaRPr sz="975"/>
          </a:p>
          <a:p>
            <a:pPr indent="-298450" lvl="0" marL="457200" rtl="0" algn="l">
              <a:lnSpc>
                <a:spcPct val="95000"/>
              </a:lnSpc>
              <a:spcBef>
                <a:spcPts val="1200"/>
              </a:spcBef>
              <a:spcAft>
                <a:spcPts val="0"/>
              </a:spcAft>
              <a:buSzPts val="1100"/>
              <a:buChar char="-"/>
            </a:pPr>
            <a:r>
              <a:rPr lang="en" sz="1100"/>
              <a:t>Dt and I both made charts about the relationship between energy and productivity. I noticed how his show no relationship between the two variables. For him, his energy does not affect his productivity, so he probably has other motivations that make him productive.</a:t>
            </a:r>
            <a:endParaRPr sz="1100"/>
          </a:p>
          <a:p>
            <a:pPr indent="-298450" lvl="0" marL="457200" rtl="0" algn="l">
              <a:lnSpc>
                <a:spcPct val="95000"/>
              </a:lnSpc>
              <a:spcBef>
                <a:spcPts val="0"/>
              </a:spcBef>
              <a:spcAft>
                <a:spcPts val="0"/>
              </a:spcAft>
              <a:buSzPts val="1100"/>
              <a:buChar char="-"/>
            </a:pPr>
            <a:r>
              <a:rPr lang="en" sz="1100"/>
              <a:t>Chris’s data is insightful in the aspect that consistent exercise results in better focus for him. Intense workouts do result in </a:t>
            </a:r>
            <a:r>
              <a:rPr lang="en" sz="1100"/>
              <a:t>fatigue</a:t>
            </a:r>
            <a:r>
              <a:rPr lang="en" sz="1100"/>
              <a:t>, so it is reasonable that his focus on those days may be lower than on days where he does his more consistent exercise routine.</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Week 4</a:t>
            </a:r>
            <a:endParaRPr/>
          </a:p>
        </p:txBody>
      </p:sp>
      <p:sp>
        <p:nvSpPr>
          <p:cNvPr id="228" name="Google Shape;228;p39"/>
          <p:cNvSpPr txBox="1"/>
          <p:nvPr>
            <p:ph type="title"/>
          </p:nvPr>
        </p:nvSpPr>
        <p:spPr>
          <a:xfrm>
            <a:off x="311700" y="26988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800">
                <a:solidFill>
                  <a:schemeClr val="dk2"/>
                </a:solidFill>
              </a:rPr>
              <a:t>(10/13 - 10/19)</a:t>
            </a:r>
            <a:endParaRPr sz="2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ph type="title"/>
          </p:nvPr>
        </p:nvSpPr>
        <p:spPr>
          <a:xfrm>
            <a:off x="311700" y="10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234" name="Google Shape;234;p40"/>
          <p:cNvSpPr txBox="1"/>
          <p:nvPr>
            <p:ph idx="1" type="body"/>
          </p:nvPr>
        </p:nvSpPr>
        <p:spPr>
          <a:xfrm>
            <a:off x="4572000" y="441000"/>
            <a:ext cx="4260300" cy="44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Insight:</a:t>
            </a:r>
            <a:endParaRPr sz="1700"/>
          </a:p>
          <a:p>
            <a:pPr indent="0" lvl="0" marL="0" rtl="0" algn="l">
              <a:spcBef>
                <a:spcPts val="1200"/>
              </a:spcBef>
              <a:spcAft>
                <a:spcPts val="0"/>
              </a:spcAft>
              <a:buNone/>
            </a:pPr>
            <a:r>
              <a:rPr lang="en" sz="1700"/>
              <a:t>I had two midterm exams during this past week. To prepare for these exams, I had to study, beforehand and more on the day of the exam. In the later half of this week, I had a couple of outside events going on. For example, I spent my Friday outside to have fun, so I did not really get any work done that day. On Sunday, I went to a wedding so that also took up most of my day. I think this week’s productivity and energy was more affected by events rather than my caffeine intake or sleep duration.</a:t>
            </a:r>
            <a:endParaRPr sz="17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700"/>
          </a:p>
        </p:txBody>
      </p:sp>
      <p:pic>
        <p:nvPicPr>
          <p:cNvPr id="235" name="Google Shape;235;p40" title="Chart"/>
          <p:cNvPicPr preferRelativeResize="0"/>
          <p:nvPr/>
        </p:nvPicPr>
        <p:blipFill>
          <a:blip r:embed="rId3">
            <a:alphaModFix/>
          </a:blip>
          <a:stretch>
            <a:fillRect/>
          </a:stretch>
        </p:blipFill>
        <p:spPr>
          <a:xfrm>
            <a:off x="232050" y="610350"/>
            <a:ext cx="3581601" cy="2214623"/>
          </a:xfrm>
          <a:prstGeom prst="rect">
            <a:avLst/>
          </a:prstGeom>
          <a:noFill/>
          <a:ln>
            <a:noFill/>
          </a:ln>
        </p:spPr>
      </p:pic>
      <p:pic>
        <p:nvPicPr>
          <p:cNvPr id="236" name="Google Shape;236;p40" title="Chart"/>
          <p:cNvPicPr preferRelativeResize="0"/>
          <p:nvPr/>
        </p:nvPicPr>
        <p:blipFill>
          <a:blip r:embed="rId4">
            <a:alphaModFix/>
          </a:blip>
          <a:stretch>
            <a:fillRect/>
          </a:stretch>
        </p:blipFill>
        <p:spPr>
          <a:xfrm>
            <a:off x="163600" y="2824975"/>
            <a:ext cx="3581601" cy="221462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1"/>
          <p:cNvSpPr txBox="1"/>
          <p:nvPr>
            <p:ph type="title"/>
          </p:nvPr>
        </p:nvSpPr>
        <p:spPr>
          <a:xfrm>
            <a:off x="311700" y="153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 Reflection</a:t>
            </a:r>
            <a:endParaRPr/>
          </a:p>
        </p:txBody>
      </p:sp>
      <p:sp>
        <p:nvSpPr>
          <p:cNvPr id="242" name="Google Shape;242;p41"/>
          <p:cNvSpPr txBox="1"/>
          <p:nvPr>
            <p:ph idx="1" type="body"/>
          </p:nvPr>
        </p:nvSpPr>
        <p:spPr>
          <a:xfrm>
            <a:off x="311700" y="726375"/>
            <a:ext cx="8520600" cy="395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week, </a:t>
            </a:r>
            <a:r>
              <a:rPr lang="en" sz="1400"/>
              <a:t>I chose to visualize my </a:t>
            </a:r>
            <a:r>
              <a:rPr lang="en" sz="1400"/>
              <a:t>caffeine</a:t>
            </a:r>
            <a:r>
              <a:rPr lang="en" sz="1400"/>
              <a:t> intake graph using a bar chart rather than a </a:t>
            </a:r>
            <a:r>
              <a:rPr lang="en" sz="1400"/>
              <a:t>scatter plot because a lot of my points were clustered together this week</a:t>
            </a:r>
            <a:r>
              <a:rPr lang="en" sz="1400"/>
              <a:t>. The data are grouped into 3 categories that represent no/low caffeine intake, moderate caffeine intake, and high caffeine intake. </a:t>
            </a:r>
            <a:r>
              <a:rPr lang="en" sz="1400"/>
              <a:t>The values are aggregated based on the average of the </a:t>
            </a:r>
            <a:r>
              <a:rPr lang="en" sz="1400"/>
              <a:t>daily</a:t>
            </a:r>
            <a:r>
              <a:rPr lang="en" sz="1400"/>
              <a:t> average energy and productivity values. There does not appear to be a relationship between the caffeine intake and energy/productivity for this week. Productivity stayed relatively the same throughout the week while </a:t>
            </a:r>
            <a:r>
              <a:rPr lang="en" sz="1400"/>
              <a:t>energy</a:t>
            </a:r>
            <a:r>
              <a:rPr lang="en" sz="1400"/>
              <a:t> levels </a:t>
            </a:r>
            <a:r>
              <a:rPr lang="en" sz="1400"/>
              <a:t>fluctuate</a:t>
            </a:r>
            <a:r>
              <a:rPr lang="en" sz="1400"/>
              <a:t> a lot. </a:t>
            </a:r>
            <a:endParaRPr sz="1400"/>
          </a:p>
          <a:p>
            <a:pPr indent="0" lvl="0" marL="0" rtl="0" algn="l">
              <a:spcBef>
                <a:spcPts val="1200"/>
              </a:spcBef>
              <a:spcAft>
                <a:spcPts val="0"/>
              </a:spcAft>
              <a:buNone/>
            </a:pPr>
            <a:r>
              <a:rPr lang="en" sz="1400"/>
              <a:t>On the other hand, the R</a:t>
            </a:r>
            <a:r>
              <a:rPr baseline="30000" lang="en" sz="1400"/>
              <a:t>2</a:t>
            </a:r>
            <a:r>
              <a:rPr lang="en" sz="1400"/>
              <a:t> values on the Sleep Duration graph were 0.94 for Daily Average Energy and 0.688 for Productivity. These values indicate that there was a strong relationship between sleep and energy, and a semi-strong relationship between sleep and productivity. However, there is a negative correlation between sleep and productivity, showing that on days where I got more sleep, I was less productive.</a:t>
            </a:r>
            <a:endParaRPr sz="1400"/>
          </a:p>
          <a:p>
            <a:pPr indent="0" lvl="0" marL="0" rtl="0" algn="l">
              <a:spcBef>
                <a:spcPts val="1200"/>
              </a:spcBef>
              <a:spcAft>
                <a:spcPts val="0"/>
              </a:spcAft>
              <a:buNone/>
            </a:pPr>
            <a:r>
              <a:rPr lang="en" sz="1400"/>
              <a:t>To relate back to my insight, I believe that this past week’s events did have more impact on my energy and productivity than my caffeine intake and sleep. The caffeine graph displayed no relationship between the variables, and my sleep graph showed that I was less productive when I got more sleep, which does not really make sense in my daily life.</a:t>
            </a:r>
            <a:endParaRPr sz="1400"/>
          </a:p>
          <a:p>
            <a:pPr indent="0" lvl="0" marL="0" rtl="0" algn="l">
              <a:spcBef>
                <a:spcPts val="1200"/>
              </a:spcBef>
              <a:spcAft>
                <a:spcPts val="1200"/>
              </a:spcAft>
              <a:buNone/>
            </a:pPr>
            <a:r>
              <a:t/>
            </a:r>
            <a:endParaRPr sz="1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2"/>
          <p:cNvSpPr txBox="1"/>
          <p:nvPr>
            <p:ph type="title"/>
          </p:nvPr>
        </p:nvSpPr>
        <p:spPr>
          <a:xfrm>
            <a:off x="311700" y="10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248" name="Google Shape;248;p42"/>
          <p:cNvSpPr txBox="1"/>
          <p:nvPr>
            <p:ph idx="1" type="body"/>
          </p:nvPr>
        </p:nvSpPr>
        <p:spPr>
          <a:xfrm>
            <a:off x="4572000" y="169150"/>
            <a:ext cx="4260300" cy="44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Insight:</a:t>
            </a:r>
            <a:endParaRPr sz="1600"/>
          </a:p>
          <a:p>
            <a:pPr indent="-330200" lvl="0" marL="457200" rtl="0" algn="l">
              <a:spcBef>
                <a:spcPts val="1200"/>
              </a:spcBef>
              <a:spcAft>
                <a:spcPts val="0"/>
              </a:spcAft>
              <a:buSzPts val="1600"/>
              <a:buChar char="-"/>
            </a:pPr>
            <a:r>
              <a:rPr lang="en" sz="1600"/>
              <a:t>On the days where I was more energetic, I also had other things going on (exams, pumpkin patch trip, wedding, etc.)</a:t>
            </a:r>
            <a:endParaRPr sz="1600"/>
          </a:p>
          <a:p>
            <a:pPr indent="0" lvl="0" marL="0" rtl="0" algn="l">
              <a:spcBef>
                <a:spcPts val="1200"/>
              </a:spcBef>
              <a:spcAft>
                <a:spcPts val="0"/>
              </a:spcAft>
              <a:buNone/>
            </a:pPr>
            <a:r>
              <a:rPr lang="en" sz="1600"/>
              <a:t>Reflection:</a:t>
            </a:r>
            <a:endParaRPr sz="1600"/>
          </a:p>
          <a:p>
            <a:pPr indent="0" lvl="0" marL="0" rtl="0" algn="l">
              <a:spcBef>
                <a:spcPts val="1200"/>
              </a:spcBef>
              <a:spcAft>
                <a:spcPts val="0"/>
              </a:spcAft>
              <a:buNone/>
            </a:pPr>
            <a:r>
              <a:rPr lang="en" sz="1600"/>
              <a:t>Based on this scatter plot, negative regression line, and R</a:t>
            </a:r>
            <a:r>
              <a:rPr baseline="30000" lang="en" sz="1600"/>
              <a:t>2</a:t>
            </a:r>
            <a:r>
              <a:rPr baseline="-25000" lang="en" sz="1600"/>
              <a:t> </a:t>
            </a:r>
            <a:r>
              <a:rPr lang="en" sz="1600"/>
              <a:t>= 0.486</a:t>
            </a:r>
            <a:r>
              <a:rPr lang="en" sz="1600"/>
              <a:t>, there was a semi-strong negative relationship between my energy and productivity. During this week, my energetic days were spent on doing different activities rather than doing something productive like studying.</a:t>
            </a:r>
            <a:endParaRPr sz="1600"/>
          </a:p>
          <a:p>
            <a:pPr indent="0" lvl="0" marL="0" rtl="0" algn="l">
              <a:spcBef>
                <a:spcPts val="1200"/>
              </a:spcBef>
              <a:spcAft>
                <a:spcPts val="1200"/>
              </a:spcAft>
              <a:buNone/>
            </a:pPr>
            <a:r>
              <a:t/>
            </a:r>
            <a:endParaRPr sz="1600"/>
          </a:p>
        </p:txBody>
      </p:sp>
      <p:pic>
        <p:nvPicPr>
          <p:cNvPr id="249" name="Google Shape;249;p42" title="Chart"/>
          <p:cNvPicPr preferRelativeResize="0"/>
          <p:nvPr/>
        </p:nvPicPr>
        <p:blipFill>
          <a:blip r:embed="rId4">
            <a:alphaModFix/>
          </a:blip>
          <a:stretch>
            <a:fillRect/>
          </a:stretch>
        </p:blipFill>
        <p:spPr>
          <a:xfrm>
            <a:off x="152400" y="834475"/>
            <a:ext cx="4267200" cy="263855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a:t>
            </a:r>
            <a:endParaRPr/>
          </a:p>
        </p:txBody>
      </p:sp>
      <p:sp>
        <p:nvSpPr>
          <p:cNvPr id="255" name="Google Shape;255;p43"/>
          <p:cNvSpPr txBox="1"/>
          <p:nvPr>
            <p:ph idx="1" type="body"/>
          </p:nvPr>
        </p:nvSpPr>
        <p:spPr>
          <a:xfrm>
            <a:off x="5497400" y="623400"/>
            <a:ext cx="2965200" cy="3896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400"/>
              <a:t>Insight: This was the week prior to exams, so I had to make sure I got plenty of sleep, so I would have the energy to be productive. </a:t>
            </a:r>
            <a:br>
              <a:rPr lang="en" sz="1400"/>
            </a:br>
            <a:endParaRPr sz="1400"/>
          </a:p>
          <a:p>
            <a:pPr indent="0" lvl="0" marL="0" rtl="0" algn="l">
              <a:lnSpc>
                <a:spcPct val="95000"/>
              </a:lnSpc>
              <a:spcBef>
                <a:spcPts val="1200"/>
              </a:spcBef>
              <a:spcAft>
                <a:spcPts val="1200"/>
              </a:spcAft>
              <a:buNone/>
            </a:pPr>
            <a:r>
              <a:rPr lang="en" sz="1400"/>
              <a:t>Within this graph the following days I got in a lot of sleep, which resulted in a high corresponding energy levels.</a:t>
            </a:r>
            <a:r>
              <a:rPr lang="en" sz="1400"/>
              <a:t> I know during this week I felt very productive because I studied for all the midterms that were coming up this week. </a:t>
            </a:r>
            <a:r>
              <a:rPr lang="en" sz="1400"/>
              <a:t>Because of all that rest, I had the energy to remain productive, which resulted in a high productivity hours compare to the previous weeks, which could imply their might be some correlation between the two</a:t>
            </a:r>
            <a:endParaRPr sz="1400"/>
          </a:p>
        </p:txBody>
      </p:sp>
      <p:pic>
        <p:nvPicPr>
          <p:cNvPr id="256" name="Google Shape;256;p43" title="Chart"/>
          <p:cNvPicPr preferRelativeResize="0"/>
          <p:nvPr/>
        </p:nvPicPr>
        <p:blipFill>
          <a:blip r:embed="rId4">
            <a:alphaModFix/>
          </a:blip>
          <a:stretch>
            <a:fillRect/>
          </a:stretch>
        </p:blipFill>
        <p:spPr>
          <a:xfrm>
            <a:off x="0" y="572700"/>
            <a:ext cx="3882174" cy="2400476"/>
          </a:xfrm>
          <a:prstGeom prst="rect">
            <a:avLst/>
          </a:prstGeom>
          <a:noFill/>
          <a:ln>
            <a:noFill/>
          </a:ln>
        </p:spPr>
      </p:pic>
      <p:pic>
        <p:nvPicPr>
          <p:cNvPr id="257" name="Google Shape;257;p43" title="Chart"/>
          <p:cNvPicPr preferRelativeResize="0"/>
          <p:nvPr/>
        </p:nvPicPr>
        <p:blipFill>
          <a:blip r:embed="rId5">
            <a:alphaModFix/>
          </a:blip>
          <a:stretch>
            <a:fillRect/>
          </a:stretch>
        </p:blipFill>
        <p:spPr>
          <a:xfrm>
            <a:off x="152400" y="2887275"/>
            <a:ext cx="3591174" cy="210382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 Reflection</a:t>
            </a:r>
            <a:endParaRPr/>
          </a:p>
        </p:txBody>
      </p:sp>
      <p:sp>
        <p:nvSpPr>
          <p:cNvPr id="263" name="Google Shape;26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This week was exam week, which had me very stressed, but I still wanted to get plenty of sleep and I need to be productive. I made the effort to get enough sleep and stay energized so I could study for these exams, and complete all my assignments for the week. </a:t>
            </a:r>
            <a:r>
              <a:rPr lang="en"/>
              <a:t>The graph really displays how the days I slept for a long time, my energy levels, and productivity 	hours increased with it, which to me suggests a positive </a:t>
            </a:r>
            <a:r>
              <a:rPr lang="en"/>
              <a:t>relation</a:t>
            </a:r>
            <a:r>
              <a:rPr lang="en"/>
              <a:t> between sleep and performance.</a:t>
            </a:r>
            <a:endParaRPr/>
          </a:p>
          <a:p>
            <a:pPr indent="0" lvl="0" marL="0" rtl="0" algn="l">
              <a:spcBef>
                <a:spcPts val="1200"/>
              </a:spcBef>
              <a:spcAft>
                <a:spcPts val="1200"/>
              </a:spcAft>
              <a:buNone/>
            </a:pPr>
            <a:r>
              <a:rPr lang="en"/>
              <a:t>However I did noticed that the day I got a lot of sleep I did not feel like I had more energy, instead I felt more tired. Other factors that may have affected that was stress, workload, etc. </a:t>
            </a:r>
            <a:r>
              <a:rPr lang="en"/>
              <a:t>I</a:t>
            </a:r>
            <a:r>
              <a:rPr lang="en"/>
              <a:t> also think that the more I sleep the more tired or sluggish I feel waking up, and I also been sleeping late, and waking up later in the afternoon, which could affect how I feel waking up.</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5"/>
          <p:cNvSpPr txBox="1"/>
          <p:nvPr>
            <p:ph type="title"/>
          </p:nvPr>
        </p:nvSpPr>
        <p:spPr>
          <a:xfrm>
            <a:off x="146450" y="141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Chris Song</a:t>
            </a:r>
            <a:endParaRPr/>
          </a:p>
        </p:txBody>
      </p:sp>
      <p:sp>
        <p:nvSpPr>
          <p:cNvPr id="269" name="Google Shape;269;p45"/>
          <p:cNvSpPr txBox="1"/>
          <p:nvPr>
            <p:ph idx="1" type="body"/>
          </p:nvPr>
        </p:nvSpPr>
        <p:spPr>
          <a:xfrm>
            <a:off x="5360575" y="141900"/>
            <a:ext cx="3569100" cy="47220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Insight:</a:t>
            </a:r>
            <a:endParaRPr/>
          </a:p>
          <a:p>
            <a:pPr indent="-334328" lvl="0" marL="457200" rtl="0" algn="l">
              <a:spcBef>
                <a:spcPts val="1200"/>
              </a:spcBef>
              <a:spcAft>
                <a:spcPts val="0"/>
              </a:spcAft>
              <a:buSzPct val="100000"/>
              <a:buChar char="-"/>
            </a:pPr>
            <a:r>
              <a:rPr lang="en"/>
              <a:t>Oct 18: Least amount of focus time and highest workout </a:t>
            </a:r>
            <a:r>
              <a:rPr lang="en"/>
              <a:t>intensity</a:t>
            </a:r>
            <a:endParaRPr/>
          </a:p>
          <a:p>
            <a:pPr indent="-334328" lvl="0" marL="457200" rtl="0" algn="l">
              <a:spcBef>
                <a:spcPts val="0"/>
              </a:spcBef>
              <a:spcAft>
                <a:spcPts val="0"/>
              </a:spcAft>
              <a:buSzPct val="100000"/>
              <a:buChar char="-"/>
            </a:pPr>
            <a:r>
              <a:rPr lang="en"/>
              <a:t>Oct 14-15: Peaked at 150 min of focus </a:t>
            </a:r>
            <a:endParaRPr/>
          </a:p>
          <a:p>
            <a:pPr indent="-334328" lvl="0" marL="457200" rtl="0" algn="l">
              <a:spcBef>
                <a:spcPts val="0"/>
              </a:spcBef>
              <a:spcAft>
                <a:spcPts val="0"/>
              </a:spcAft>
              <a:buSzPct val="100000"/>
              <a:buChar char="-"/>
            </a:pPr>
            <a:r>
              <a:rPr lang="en"/>
              <a:t>Oct 13,16,19: Basketball at similar intensity (40-50%) resulted in 120 min of focus</a:t>
            </a:r>
            <a:endParaRPr/>
          </a:p>
          <a:p>
            <a:pPr indent="0" lvl="0" marL="0" rtl="0" algn="l">
              <a:spcBef>
                <a:spcPts val="1200"/>
              </a:spcBef>
              <a:spcAft>
                <a:spcPts val="0"/>
              </a:spcAft>
              <a:buNone/>
            </a:pPr>
            <a:r>
              <a:rPr lang="en"/>
              <a:t>Reflection: </a:t>
            </a:r>
            <a:endParaRPr/>
          </a:p>
          <a:p>
            <a:pPr indent="-334328" lvl="0" marL="457200" rtl="0" algn="l">
              <a:spcBef>
                <a:spcPts val="1200"/>
              </a:spcBef>
              <a:spcAft>
                <a:spcPts val="0"/>
              </a:spcAft>
              <a:buSzPct val="100000"/>
              <a:buChar char="-"/>
            </a:pPr>
            <a:r>
              <a:rPr lang="en"/>
              <a:t>High intensity does not lead to “better” cognitive function</a:t>
            </a:r>
            <a:endParaRPr/>
          </a:p>
          <a:p>
            <a:pPr indent="-334328" lvl="0" marL="457200" rtl="0" algn="l">
              <a:spcBef>
                <a:spcPts val="0"/>
              </a:spcBef>
              <a:spcAft>
                <a:spcPts val="0"/>
              </a:spcAft>
              <a:buSzPct val="100000"/>
              <a:buChar char="-"/>
            </a:pPr>
            <a:r>
              <a:rPr lang="en"/>
              <a:t>My sweet spot for Weightlifting is 40 min at a challenging but sustainable 50-60% intensity.</a:t>
            </a:r>
            <a:endParaRPr/>
          </a:p>
        </p:txBody>
      </p:sp>
      <p:pic>
        <p:nvPicPr>
          <p:cNvPr id="270" name="Google Shape;270;p45" title="chart(3).png"/>
          <p:cNvPicPr preferRelativeResize="0"/>
          <p:nvPr/>
        </p:nvPicPr>
        <p:blipFill>
          <a:blip r:embed="rId4">
            <a:alphaModFix/>
          </a:blip>
          <a:stretch>
            <a:fillRect/>
          </a:stretch>
        </p:blipFill>
        <p:spPr>
          <a:xfrm>
            <a:off x="152400" y="867000"/>
            <a:ext cx="5055776" cy="312615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Chris Song Reflection cont. </a:t>
            </a:r>
            <a:endParaRPr/>
          </a:p>
        </p:txBody>
      </p:sp>
      <p:sp>
        <p:nvSpPr>
          <p:cNvPr id="276" name="Google Shape;276;p46"/>
          <p:cNvSpPr txBox="1"/>
          <p:nvPr>
            <p:ph idx="1" type="body"/>
          </p:nvPr>
        </p:nvSpPr>
        <p:spPr>
          <a:xfrm>
            <a:off x="345250" y="1098800"/>
            <a:ext cx="8520600" cy="37797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The most notable observation is the significant drop on October 18th. I recorded my highest exercise intensity of the week at 70% during a 45 minute weightlifting session. Following this, my focus time for the rest of the day dropped to only 60 minutes, and I completed zero assignments. This suggests that there is a threshold where physical exertion begins to significantly reduce my available mental capacity. I feel that the 150 minute focus sessions weren't random. They happened when I finished the workout feeling energized and ready, rather than completely drained. For weightlifting, my ideal balance appears to be around 40 minutes at a challenging but sustainable 50-60% intensity. For basketball, perhaps ~45 minutes a session. </a:t>
            </a:r>
            <a:endParaRPr/>
          </a:p>
          <a:p>
            <a:pPr indent="0" lvl="0" marL="0" rtl="0" algn="l">
              <a:spcBef>
                <a:spcPts val="1200"/>
              </a:spcBef>
              <a:spcAft>
                <a:spcPts val="1200"/>
              </a:spcAft>
              <a:buNone/>
            </a:pPr>
            <a:r>
              <a:rPr lang="en"/>
              <a:t>I also believe that my "Assignments Completed" metric is currently too simple, as completing one major paper holds more weight than one minor lab report. I will add a "Task Weight (1-5)" column to my "Assignments Completed" log, where 1 is a small task/reading and 5 is a major paper/project. This will provide a more accurate measure of true Output Value.</a:t>
            </a:r>
            <a:r>
              <a:rPr lang="en"/>
              <a:t> I will also add an “Energy Level (%)” column that I will subjectively fill out right after I workout to help confirm whether a low energy score reliably predicts the subsequent drop in Focus time.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Group Reflection</a:t>
            </a:r>
            <a:endParaRPr/>
          </a:p>
        </p:txBody>
      </p:sp>
      <p:sp>
        <p:nvSpPr>
          <p:cNvPr id="282" name="Google Shape;282;p47"/>
          <p:cNvSpPr txBox="1"/>
          <p:nvPr>
            <p:ph idx="1" type="body"/>
          </p:nvPr>
        </p:nvSpPr>
        <p:spPr>
          <a:xfrm>
            <a:off x="311700" y="1152475"/>
            <a:ext cx="8520600" cy="3652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3"/>
              <a:buNone/>
            </a:pPr>
            <a:r>
              <a:rPr lang="en" sz="1130"/>
              <a:t>DT:</a:t>
            </a:r>
            <a:endParaRPr sz="1130"/>
          </a:p>
          <a:p>
            <a:pPr indent="-300355" lvl="0" marL="457200" rtl="0" algn="l">
              <a:lnSpc>
                <a:spcPct val="95000"/>
              </a:lnSpc>
              <a:spcBef>
                <a:spcPts val="1200"/>
              </a:spcBef>
              <a:spcAft>
                <a:spcPts val="0"/>
              </a:spcAft>
              <a:buSzPts val="1130"/>
              <a:buChar char="-"/>
            </a:pPr>
            <a:r>
              <a:rPr lang="en" sz="1130"/>
              <a:t>It was interesting to see all the activities Chris Implements within his data, and how well labeled everything is. In addition Chris, insights are very analytical, and really displays a lot of percentages that I should possibly incorporate into my data.</a:t>
            </a:r>
            <a:endParaRPr sz="1130"/>
          </a:p>
          <a:p>
            <a:pPr indent="-300355" lvl="0" marL="457200" rtl="0" algn="l">
              <a:lnSpc>
                <a:spcPct val="95000"/>
              </a:lnSpc>
              <a:spcBef>
                <a:spcPts val="0"/>
              </a:spcBef>
              <a:spcAft>
                <a:spcPts val="0"/>
              </a:spcAft>
              <a:buSzPts val="1130"/>
              <a:buChar char="-"/>
            </a:pPr>
            <a:r>
              <a:rPr lang="en" sz="1130"/>
              <a:t>Steven’s scatter plots really shows the relationship between variables, which my data also does, so maybe I should use a scatter plot next week to display the correlation between my sleep length, energy levels, and productivity hours.</a:t>
            </a:r>
            <a:endParaRPr sz="1130"/>
          </a:p>
          <a:p>
            <a:pPr indent="0" lvl="0" marL="0" rtl="0" algn="l">
              <a:lnSpc>
                <a:spcPct val="95000"/>
              </a:lnSpc>
              <a:spcBef>
                <a:spcPts val="1200"/>
              </a:spcBef>
              <a:spcAft>
                <a:spcPts val="0"/>
              </a:spcAft>
              <a:buSzPts val="853"/>
              <a:buNone/>
            </a:pPr>
            <a:r>
              <a:rPr lang="en" sz="1130"/>
              <a:t>Chris:</a:t>
            </a:r>
            <a:endParaRPr sz="1130"/>
          </a:p>
          <a:p>
            <a:pPr indent="-300355" lvl="0" marL="457200" rtl="0" algn="l">
              <a:lnSpc>
                <a:spcPct val="95000"/>
              </a:lnSpc>
              <a:spcBef>
                <a:spcPts val="1200"/>
              </a:spcBef>
              <a:spcAft>
                <a:spcPts val="0"/>
              </a:spcAft>
              <a:buSzPts val="1130"/>
              <a:buChar char="-"/>
            </a:pPr>
            <a:r>
              <a:rPr lang="en" sz="1130"/>
              <a:t>It was interesting to see that Steven’s </a:t>
            </a:r>
            <a:r>
              <a:rPr lang="en" sz="1130"/>
              <a:t>productivity</a:t>
            </a:r>
            <a:r>
              <a:rPr lang="en" sz="1130"/>
              <a:t> didn’t really correlate to </a:t>
            </a:r>
            <a:r>
              <a:rPr lang="en" sz="1130"/>
              <a:t>neither his energy levels or hours of sleep, but rather the events happening within his life. I feel that external motivation can be a big factor in my life too. </a:t>
            </a:r>
            <a:endParaRPr sz="1130"/>
          </a:p>
          <a:p>
            <a:pPr indent="-300355" lvl="0" marL="457200" rtl="0" algn="l">
              <a:lnSpc>
                <a:spcPct val="95000"/>
              </a:lnSpc>
              <a:spcBef>
                <a:spcPts val="0"/>
              </a:spcBef>
              <a:spcAft>
                <a:spcPts val="0"/>
              </a:spcAft>
              <a:buSzPts val="1130"/>
              <a:buChar char="-"/>
            </a:pPr>
            <a:r>
              <a:rPr lang="en" sz="1130"/>
              <a:t>In similar fashion, DT did not do well with excess sleep (Steven also did not do well with more than usual sleep time). Both of them had midterms this past week and experienced similar productivity. </a:t>
            </a:r>
            <a:endParaRPr sz="1130"/>
          </a:p>
          <a:p>
            <a:pPr indent="0" lvl="0" marL="0" rtl="0" algn="l">
              <a:lnSpc>
                <a:spcPct val="95000"/>
              </a:lnSpc>
              <a:spcBef>
                <a:spcPts val="1200"/>
              </a:spcBef>
              <a:spcAft>
                <a:spcPts val="0"/>
              </a:spcAft>
              <a:buNone/>
            </a:pPr>
            <a:r>
              <a:rPr lang="en" sz="975"/>
              <a:t>Steven</a:t>
            </a:r>
            <a:endParaRPr sz="975"/>
          </a:p>
          <a:p>
            <a:pPr indent="-298450" lvl="0" marL="457200" rtl="0" algn="l">
              <a:lnSpc>
                <a:spcPct val="95000"/>
              </a:lnSpc>
              <a:spcBef>
                <a:spcPts val="1200"/>
              </a:spcBef>
              <a:spcAft>
                <a:spcPts val="0"/>
              </a:spcAft>
              <a:buSzPts val="1100"/>
              <a:buChar char="-"/>
            </a:pPr>
            <a:r>
              <a:rPr lang="en" sz="1100"/>
              <a:t>DT's data, particularly in the lower graph comparing energy levels and productivity, shows a general trend where high energy levels in the first half of the week seem to lead to greater productivity, suggesting he utilizes his rest well when preparing for events like exams.</a:t>
            </a:r>
            <a:endParaRPr sz="1100"/>
          </a:p>
          <a:p>
            <a:pPr indent="-298450" lvl="0" marL="457200" rtl="0" algn="l">
              <a:lnSpc>
                <a:spcPct val="95000"/>
              </a:lnSpc>
              <a:spcBef>
                <a:spcPts val="0"/>
              </a:spcBef>
              <a:spcAft>
                <a:spcPts val="0"/>
              </a:spcAft>
              <a:buSzPts val="1100"/>
              <a:buChar char="-"/>
            </a:pPr>
            <a:r>
              <a:rPr lang="en" sz="1100"/>
              <a:t>Chris’s insights clearly demonstrate that the intensity of his exercise is a critical factor impacting his focus. The data points to intensity between 50-60% being much more effective for cognitive function than intense workouts. </a:t>
            </a:r>
            <a:endParaRPr sz="11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Week 5</a:t>
            </a:r>
            <a:endParaRPr/>
          </a:p>
        </p:txBody>
      </p:sp>
      <p:sp>
        <p:nvSpPr>
          <p:cNvPr id="288" name="Google Shape;288;p48"/>
          <p:cNvSpPr txBox="1"/>
          <p:nvPr>
            <p:ph type="title"/>
          </p:nvPr>
        </p:nvSpPr>
        <p:spPr>
          <a:xfrm>
            <a:off x="311700" y="26988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800">
                <a:solidFill>
                  <a:schemeClr val="dk2"/>
                </a:solidFill>
              </a:rPr>
              <a:t>(10/20 - 10/26)</a:t>
            </a:r>
            <a:endParaRPr sz="2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9"/>
          <p:cNvSpPr txBox="1"/>
          <p:nvPr>
            <p:ph type="title"/>
          </p:nvPr>
        </p:nvSpPr>
        <p:spPr>
          <a:xfrm>
            <a:off x="121500" y="72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294" name="Google Shape;294;p49"/>
          <p:cNvSpPr txBox="1"/>
          <p:nvPr>
            <p:ph idx="1" type="body"/>
          </p:nvPr>
        </p:nvSpPr>
        <p:spPr>
          <a:xfrm>
            <a:off x="4572000" y="441000"/>
            <a:ext cx="4260300" cy="44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t>Analysis #1:</a:t>
            </a:r>
            <a:endParaRPr b="1" sz="1200"/>
          </a:p>
          <a:p>
            <a:pPr indent="0" lvl="0" marL="0" rtl="0" algn="l">
              <a:spcBef>
                <a:spcPts val="1200"/>
              </a:spcBef>
              <a:spcAft>
                <a:spcPts val="0"/>
              </a:spcAft>
              <a:buClr>
                <a:schemeClr val="dk1"/>
              </a:buClr>
              <a:buSzPts val="1100"/>
              <a:buFont typeface="Arial"/>
              <a:buNone/>
            </a:pPr>
            <a:r>
              <a:rPr b="1" i="1" lang="en" sz="1200"/>
              <a:t>Hypothesis</a:t>
            </a:r>
            <a:r>
              <a:rPr lang="en" sz="1200"/>
              <a:t>: Having a reasonable amount of caffeine daily (~100mg from coffee, tea, and/or energy drinks) will increase energy levels and productivity time.</a:t>
            </a:r>
            <a:endParaRPr sz="1200"/>
          </a:p>
          <a:p>
            <a:pPr indent="0" lvl="0" marL="0" rtl="0" algn="l">
              <a:spcBef>
                <a:spcPts val="1200"/>
              </a:spcBef>
              <a:spcAft>
                <a:spcPts val="0"/>
              </a:spcAft>
              <a:buClr>
                <a:schemeClr val="dk1"/>
              </a:buClr>
              <a:buSzPts val="1100"/>
              <a:buFont typeface="Arial"/>
              <a:buNone/>
            </a:pPr>
            <a:r>
              <a:rPr lang="en" sz="1200"/>
              <a:t>The results do not support my hypothesis for the relationship between caffeine intake and average energy. Throughout this study, the amount of caffeine consumed have varied daily from 0 mg to 300 mg of caffeine. However, my average energy level stayed consistently between 4 and 8. </a:t>
            </a:r>
            <a:r>
              <a:rPr lang="en" sz="1200"/>
              <a:t>It does not appear that there is a positive or negative relationship, so there may be no relationship between caffeine intake and average daily energy.</a:t>
            </a:r>
            <a:endParaRPr sz="1200"/>
          </a:p>
          <a:p>
            <a:pPr indent="0" lvl="0" marL="0" rtl="0" algn="l">
              <a:spcBef>
                <a:spcPts val="1200"/>
              </a:spcBef>
              <a:spcAft>
                <a:spcPts val="0"/>
              </a:spcAft>
              <a:buClr>
                <a:schemeClr val="dk1"/>
              </a:buClr>
              <a:buSzPts val="1100"/>
              <a:buFont typeface="Arial"/>
              <a:buNone/>
            </a:pPr>
            <a:r>
              <a:rPr lang="en" sz="1200"/>
              <a:t>The results do somewhat support my hypothesis for the relationship between caffeine intake and productivity. There appears to be a weak, positive relationship between caffeine intake and productivity. On some days, higher caffeine intake did correlate with higher productivity for that day. However, this relationship is not strong across the entire data.</a:t>
            </a:r>
            <a:endParaRPr sz="1200"/>
          </a:p>
          <a:p>
            <a:pPr indent="0" lvl="0" marL="0" rtl="0" algn="l">
              <a:spcBef>
                <a:spcPts val="1200"/>
              </a:spcBef>
              <a:spcAft>
                <a:spcPts val="0"/>
              </a:spcAft>
              <a:buNone/>
            </a:pPr>
            <a:r>
              <a:t/>
            </a:r>
            <a:endParaRPr sz="1000"/>
          </a:p>
          <a:p>
            <a:pPr indent="0" lvl="0" marL="0" rtl="0" algn="l">
              <a:spcBef>
                <a:spcPts val="1200"/>
              </a:spcBef>
              <a:spcAft>
                <a:spcPts val="1200"/>
              </a:spcAft>
              <a:buNone/>
            </a:pPr>
            <a:r>
              <a:t/>
            </a:r>
            <a:endParaRPr sz="1000"/>
          </a:p>
        </p:txBody>
      </p:sp>
      <p:pic>
        <p:nvPicPr>
          <p:cNvPr id="295" name="Google Shape;295;p49"/>
          <p:cNvPicPr preferRelativeResize="0"/>
          <p:nvPr/>
        </p:nvPicPr>
        <p:blipFill>
          <a:blip r:embed="rId4">
            <a:alphaModFix/>
          </a:blip>
          <a:stretch>
            <a:fillRect/>
          </a:stretch>
        </p:blipFill>
        <p:spPr>
          <a:xfrm>
            <a:off x="2100750" y="577100"/>
            <a:ext cx="2269724" cy="2167375"/>
          </a:xfrm>
          <a:prstGeom prst="rect">
            <a:avLst/>
          </a:prstGeom>
          <a:noFill/>
          <a:ln>
            <a:noFill/>
          </a:ln>
        </p:spPr>
      </p:pic>
      <p:pic>
        <p:nvPicPr>
          <p:cNvPr id="296" name="Google Shape;296;p49"/>
          <p:cNvPicPr preferRelativeResize="0"/>
          <p:nvPr/>
        </p:nvPicPr>
        <p:blipFill>
          <a:blip r:embed="rId5">
            <a:alphaModFix/>
          </a:blip>
          <a:stretch>
            <a:fillRect/>
          </a:stretch>
        </p:blipFill>
        <p:spPr>
          <a:xfrm>
            <a:off x="121488" y="2775225"/>
            <a:ext cx="2388478" cy="2266951"/>
          </a:xfrm>
          <a:prstGeom prst="rect">
            <a:avLst/>
          </a:prstGeom>
          <a:noFill/>
          <a:ln>
            <a:noFill/>
          </a:ln>
        </p:spPr>
      </p:pic>
      <p:sp>
        <p:nvSpPr>
          <p:cNvPr id="297" name="Google Shape;297;p49"/>
          <p:cNvSpPr txBox="1"/>
          <p:nvPr/>
        </p:nvSpPr>
        <p:spPr>
          <a:xfrm>
            <a:off x="2407275" y="336900"/>
            <a:ext cx="1771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Caffeine Intake and Avg Energy</a:t>
            </a:r>
            <a:endParaRPr sz="800">
              <a:solidFill>
                <a:schemeClr val="dk2"/>
              </a:solidFill>
            </a:endParaRPr>
          </a:p>
        </p:txBody>
      </p:sp>
      <p:sp>
        <p:nvSpPr>
          <p:cNvPr id="298" name="Google Shape;298;p49"/>
          <p:cNvSpPr txBox="1"/>
          <p:nvPr/>
        </p:nvSpPr>
        <p:spPr>
          <a:xfrm>
            <a:off x="328950" y="2505450"/>
            <a:ext cx="1771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Caffeine Intake and Productivity</a:t>
            </a:r>
            <a:endParaRPr sz="8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0"/>
          <p:cNvSpPr txBox="1"/>
          <p:nvPr>
            <p:ph type="title"/>
          </p:nvPr>
        </p:nvSpPr>
        <p:spPr>
          <a:xfrm>
            <a:off x="311700" y="10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304" name="Google Shape;304;p50"/>
          <p:cNvSpPr txBox="1"/>
          <p:nvPr>
            <p:ph idx="1" type="body"/>
          </p:nvPr>
        </p:nvSpPr>
        <p:spPr>
          <a:xfrm>
            <a:off x="4572000" y="441000"/>
            <a:ext cx="4260300" cy="44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Analysis #2:</a:t>
            </a:r>
            <a:endParaRPr sz="1200"/>
          </a:p>
          <a:p>
            <a:pPr indent="0" lvl="0" marL="0" rtl="0" algn="l">
              <a:spcBef>
                <a:spcPts val="1200"/>
              </a:spcBef>
              <a:spcAft>
                <a:spcPts val="0"/>
              </a:spcAft>
              <a:buNone/>
            </a:pPr>
            <a:r>
              <a:rPr b="1" i="1" lang="en" sz="1200"/>
              <a:t>What is the relationship between Avg Energy and Productivity time?</a:t>
            </a:r>
            <a:endParaRPr b="1" i="1" sz="1200"/>
          </a:p>
          <a:p>
            <a:pPr indent="0" lvl="0" marL="0" rtl="0" algn="l">
              <a:spcBef>
                <a:spcPts val="1200"/>
              </a:spcBef>
              <a:spcAft>
                <a:spcPts val="0"/>
              </a:spcAft>
              <a:buNone/>
            </a:pPr>
            <a:r>
              <a:rPr lang="en" sz="1200"/>
              <a:t>There appears to be a weak positive relationship between average energy and productivity time. My average productivity across all days recorded is 3.55 hours</a:t>
            </a:r>
            <a:r>
              <a:rPr lang="en" sz="1200"/>
              <a:t>, which a majority of the points hover around despite the the differences in average energy level. </a:t>
            </a:r>
            <a:endParaRPr sz="1200"/>
          </a:p>
          <a:p>
            <a:pPr indent="0" lvl="0" marL="0" rtl="0" algn="l">
              <a:spcBef>
                <a:spcPts val="1200"/>
              </a:spcBef>
              <a:spcAft>
                <a:spcPts val="0"/>
              </a:spcAft>
              <a:buNone/>
            </a:pPr>
            <a:r>
              <a:rPr lang="en" sz="1200"/>
              <a:t>For example, on days where my average energy level ranges from 4-8, the productivity time generally stays within 2-4 hours. </a:t>
            </a:r>
            <a:r>
              <a:rPr lang="en" sz="1200"/>
              <a:t>There are a few days where my productivity time is very high, but my energy for that day was about the same as every other day.</a:t>
            </a:r>
            <a:endParaRPr sz="1200"/>
          </a:p>
          <a:p>
            <a:pPr indent="0" lvl="0" marL="0" rtl="0" algn="l">
              <a:spcBef>
                <a:spcPts val="1200"/>
              </a:spcBef>
              <a:spcAft>
                <a:spcPts val="0"/>
              </a:spcAft>
              <a:buNone/>
            </a:pPr>
            <a:r>
              <a:t/>
            </a:r>
            <a:endParaRPr sz="1000"/>
          </a:p>
          <a:p>
            <a:pPr indent="0" lvl="0" marL="0" rtl="0" algn="l">
              <a:spcBef>
                <a:spcPts val="1200"/>
              </a:spcBef>
              <a:spcAft>
                <a:spcPts val="1200"/>
              </a:spcAft>
              <a:buNone/>
            </a:pPr>
            <a:r>
              <a:t/>
            </a:r>
            <a:endParaRPr sz="1000"/>
          </a:p>
        </p:txBody>
      </p:sp>
      <p:pic>
        <p:nvPicPr>
          <p:cNvPr id="305" name="Google Shape;305;p50"/>
          <p:cNvPicPr preferRelativeResize="0"/>
          <p:nvPr/>
        </p:nvPicPr>
        <p:blipFill>
          <a:blip r:embed="rId4">
            <a:alphaModFix/>
          </a:blip>
          <a:stretch>
            <a:fillRect/>
          </a:stretch>
        </p:blipFill>
        <p:spPr>
          <a:xfrm>
            <a:off x="311700" y="1190000"/>
            <a:ext cx="3815049" cy="3518800"/>
          </a:xfrm>
          <a:prstGeom prst="rect">
            <a:avLst/>
          </a:prstGeom>
          <a:noFill/>
          <a:ln>
            <a:noFill/>
          </a:ln>
        </p:spPr>
      </p:pic>
      <p:sp>
        <p:nvSpPr>
          <p:cNvPr id="306" name="Google Shape;306;p50"/>
          <p:cNvSpPr txBox="1"/>
          <p:nvPr/>
        </p:nvSpPr>
        <p:spPr>
          <a:xfrm>
            <a:off x="1161375" y="889675"/>
            <a:ext cx="2292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and Productivity</a:t>
            </a:r>
            <a:endParaRPr sz="11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1"/>
          <p:cNvSpPr txBox="1"/>
          <p:nvPr>
            <p:ph type="title"/>
          </p:nvPr>
        </p:nvSpPr>
        <p:spPr>
          <a:xfrm>
            <a:off x="311700" y="10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312" name="Google Shape;312;p51"/>
          <p:cNvSpPr txBox="1"/>
          <p:nvPr>
            <p:ph idx="1" type="body"/>
          </p:nvPr>
        </p:nvSpPr>
        <p:spPr>
          <a:xfrm>
            <a:off x="4572000" y="441000"/>
            <a:ext cx="4260300" cy="44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highlight>
                  <a:srgbClr val="FFFFFF"/>
                </a:highlight>
              </a:rPr>
              <a:t>Analysis #3:</a:t>
            </a:r>
            <a:endParaRPr b="1" sz="1200">
              <a:highlight>
                <a:srgbClr val="FFFFFF"/>
              </a:highlight>
            </a:endParaRPr>
          </a:p>
          <a:p>
            <a:pPr indent="0" lvl="0" marL="0" rtl="0" algn="l">
              <a:spcBef>
                <a:spcPts val="1100"/>
              </a:spcBef>
              <a:spcAft>
                <a:spcPts val="0"/>
              </a:spcAft>
              <a:buClr>
                <a:schemeClr val="dk1"/>
              </a:buClr>
              <a:buSzPts val="1100"/>
              <a:buFont typeface="Arial"/>
              <a:buNone/>
            </a:pPr>
            <a:r>
              <a:rPr b="1" i="1" lang="en" sz="1200">
                <a:highlight>
                  <a:srgbClr val="FFFFFF"/>
                </a:highlight>
              </a:rPr>
              <a:t>What is the pattern of sleep duration on each day of the week?</a:t>
            </a:r>
            <a:endParaRPr b="1" i="1" sz="1200">
              <a:highlight>
                <a:srgbClr val="FFFFFF"/>
              </a:highlight>
            </a:endParaRPr>
          </a:p>
          <a:p>
            <a:pPr indent="0" lvl="0" marL="0" rtl="0" algn="l">
              <a:spcBef>
                <a:spcPts val="1100"/>
              </a:spcBef>
              <a:spcAft>
                <a:spcPts val="0"/>
              </a:spcAft>
              <a:buClr>
                <a:schemeClr val="dk1"/>
              </a:buClr>
              <a:buSzPts val="1100"/>
              <a:buFont typeface="Arial"/>
              <a:buNone/>
            </a:pPr>
            <a:r>
              <a:rPr lang="en" sz="1200">
                <a:highlight>
                  <a:srgbClr val="FFFFFF"/>
                </a:highlight>
              </a:rPr>
              <a:t>The average sleep duration on each day of the week is about the same. They fall in the range of 6-7 hours. I also noticed that on average, I get the most sleep on Mondays. As a summary, my sleep is consistently the same on every day of the week.</a:t>
            </a:r>
            <a:endParaRPr sz="1200">
              <a:highlight>
                <a:srgbClr val="FFFFFF"/>
              </a:highlight>
            </a:endParaRPr>
          </a:p>
          <a:p>
            <a:pPr indent="0" lvl="0" marL="0" rtl="0" algn="l">
              <a:spcBef>
                <a:spcPts val="1100"/>
              </a:spcBef>
              <a:spcAft>
                <a:spcPts val="0"/>
              </a:spcAft>
              <a:buClr>
                <a:schemeClr val="dk1"/>
              </a:buClr>
              <a:buSzPts val="1100"/>
              <a:buFont typeface="Arial"/>
              <a:buNone/>
            </a:pPr>
            <a:r>
              <a:rPr lang="en" sz="1200">
                <a:highlight>
                  <a:srgbClr val="FFFFFF"/>
                </a:highlight>
              </a:rPr>
              <a:t>Note: I have always gone to sleep after 12 AM, so the sleep starts on the day it is recorded for. For example, Monday's sleep is from going to sleep on 'Sunday night' and waking up Monday morning.</a:t>
            </a:r>
            <a:endParaRPr sz="1200">
              <a:highlight>
                <a:srgbClr val="FFFFFF"/>
              </a:highlight>
            </a:endParaRPr>
          </a:p>
          <a:p>
            <a:pPr indent="0" lvl="0" marL="0" rtl="0" algn="l">
              <a:spcBef>
                <a:spcPts val="500"/>
              </a:spcBef>
              <a:spcAft>
                <a:spcPts val="0"/>
              </a:spcAft>
              <a:buNone/>
            </a:pPr>
            <a:r>
              <a:t/>
            </a:r>
            <a:endParaRPr b="1" sz="1200"/>
          </a:p>
          <a:p>
            <a:pPr indent="0" lvl="0" marL="0" rtl="0" algn="l">
              <a:spcBef>
                <a:spcPts val="1200"/>
              </a:spcBef>
              <a:spcAft>
                <a:spcPts val="1200"/>
              </a:spcAft>
              <a:buNone/>
            </a:pPr>
            <a:r>
              <a:t/>
            </a:r>
            <a:endParaRPr sz="1000"/>
          </a:p>
        </p:txBody>
      </p:sp>
      <p:pic>
        <p:nvPicPr>
          <p:cNvPr id="313" name="Google Shape;313;p51"/>
          <p:cNvPicPr preferRelativeResize="0"/>
          <p:nvPr/>
        </p:nvPicPr>
        <p:blipFill>
          <a:blip r:embed="rId4">
            <a:alphaModFix/>
          </a:blip>
          <a:stretch>
            <a:fillRect/>
          </a:stretch>
        </p:blipFill>
        <p:spPr>
          <a:xfrm>
            <a:off x="159875" y="1444125"/>
            <a:ext cx="4267200" cy="2430449"/>
          </a:xfrm>
          <a:prstGeom prst="rect">
            <a:avLst/>
          </a:prstGeom>
          <a:noFill/>
          <a:ln>
            <a:noFill/>
          </a:ln>
        </p:spPr>
      </p:pic>
      <p:sp>
        <p:nvSpPr>
          <p:cNvPr id="314" name="Google Shape;314;p51"/>
          <p:cNvSpPr txBox="1"/>
          <p:nvPr/>
        </p:nvSpPr>
        <p:spPr>
          <a:xfrm>
            <a:off x="201850" y="1074825"/>
            <a:ext cx="430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Average Sleep Duration on each Day of the Week</a:t>
            </a:r>
            <a:endParaRPr sz="1200">
              <a:solidFill>
                <a:schemeClr val="dk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2"/>
          <p:cNvSpPr txBox="1"/>
          <p:nvPr>
            <p:ph type="title"/>
          </p:nvPr>
        </p:nvSpPr>
        <p:spPr>
          <a:xfrm>
            <a:off x="311700" y="10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pic>
        <p:nvPicPr>
          <p:cNvPr id="320" name="Google Shape;320;p52"/>
          <p:cNvPicPr preferRelativeResize="0"/>
          <p:nvPr/>
        </p:nvPicPr>
        <p:blipFill>
          <a:blip r:embed="rId3">
            <a:alphaModFix/>
          </a:blip>
          <a:stretch>
            <a:fillRect/>
          </a:stretch>
        </p:blipFill>
        <p:spPr>
          <a:xfrm>
            <a:off x="705625" y="1421625"/>
            <a:ext cx="3608050" cy="3372375"/>
          </a:xfrm>
          <a:prstGeom prst="rect">
            <a:avLst/>
          </a:prstGeom>
          <a:noFill/>
          <a:ln>
            <a:noFill/>
          </a:ln>
        </p:spPr>
      </p:pic>
      <p:sp>
        <p:nvSpPr>
          <p:cNvPr id="321" name="Google Shape;321;p52"/>
          <p:cNvSpPr txBox="1"/>
          <p:nvPr/>
        </p:nvSpPr>
        <p:spPr>
          <a:xfrm>
            <a:off x="705625" y="1052325"/>
            <a:ext cx="430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Sleep Duration Trend Across All Days</a:t>
            </a:r>
            <a:endParaRPr sz="1200">
              <a:solidFill>
                <a:schemeClr val="dk2"/>
              </a:solidFill>
            </a:endParaRPr>
          </a:p>
        </p:txBody>
      </p:sp>
      <p:sp>
        <p:nvSpPr>
          <p:cNvPr id="322" name="Google Shape;322;p52"/>
          <p:cNvSpPr txBox="1"/>
          <p:nvPr>
            <p:ph idx="1" type="body"/>
          </p:nvPr>
        </p:nvSpPr>
        <p:spPr>
          <a:xfrm>
            <a:off x="4572000" y="441000"/>
            <a:ext cx="4260300" cy="44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highlight>
                  <a:srgbClr val="FFFFFF"/>
                </a:highlight>
              </a:rPr>
              <a:t>Analysis #4:</a:t>
            </a:r>
            <a:endParaRPr b="1" sz="1200">
              <a:highlight>
                <a:srgbClr val="FFFFFF"/>
              </a:highlight>
            </a:endParaRPr>
          </a:p>
          <a:p>
            <a:pPr indent="0" lvl="0" marL="0" rtl="0" algn="l">
              <a:spcBef>
                <a:spcPts val="1200"/>
              </a:spcBef>
              <a:spcAft>
                <a:spcPts val="0"/>
              </a:spcAft>
              <a:buNone/>
            </a:pPr>
            <a:r>
              <a:rPr b="1" i="1" lang="en" sz="1200">
                <a:highlight>
                  <a:srgbClr val="FFFFFF"/>
                </a:highlight>
              </a:rPr>
              <a:t>What is the trend of Sleep Duration (hrs)</a:t>
            </a:r>
            <a:endParaRPr b="1" i="1" sz="1200">
              <a:highlight>
                <a:srgbClr val="FFFFFF"/>
              </a:highlight>
            </a:endParaRPr>
          </a:p>
          <a:p>
            <a:pPr indent="0" lvl="0" marL="0" rtl="0" algn="l">
              <a:spcBef>
                <a:spcPts val="1200"/>
              </a:spcBef>
              <a:spcAft>
                <a:spcPts val="0"/>
              </a:spcAft>
              <a:buNone/>
            </a:pPr>
            <a:r>
              <a:rPr lang="en" sz="1200">
                <a:highlight>
                  <a:srgbClr val="FFFFFF"/>
                </a:highlight>
              </a:rPr>
              <a:t>Throughout this study, my sleep duration has mainly fluctuated between 6-8 hours of sleep, which I believe is a good amount of sleep. </a:t>
            </a:r>
            <a:endParaRPr sz="1200">
              <a:highlight>
                <a:srgbClr val="FFFFFF"/>
              </a:highlight>
            </a:endParaRPr>
          </a:p>
          <a:p>
            <a:pPr indent="0" lvl="0" marL="0" rtl="0" algn="l">
              <a:spcBef>
                <a:spcPts val="1200"/>
              </a:spcBef>
              <a:spcAft>
                <a:spcPts val="0"/>
              </a:spcAft>
              <a:buNone/>
            </a:pPr>
            <a:r>
              <a:rPr lang="en" sz="1200">
                <a:highlight>
                  <a:srgbClr val="FFFFFF"/>
                </a:highlight>
              </a:rPr>
              <a:t>There are some details in the trend that are different from the rest of the graph. On day 10, I only slept for around 2 hours. This was because of hackUMBC. On day 11, I slept for over 12 hours. I went to sleep early that evening and did not wake up until the morning due to lack of sleep. The few other days when I got more than 8 hours of sleep were because I was particularly tired on those days.</a:t>
            </a:r>
            <a:endParaRPr sz="1200">
              <a:highlight>
                <a:srgbClr val="FFFFFF"/>
              </a:highlight>
            </a:endParaRPr>
          </a:p>
          <a:p>
            <a:pPr indent="0" lvl="0" marL="0" rtl="0" algn="l">
              <a:spcBef>
                <a:spcPts val="1200"/>
              </a:spcBef>
              <a:spcAft>
                <a:spcPts val="1200"/>
              </a:spcAft>
              <a:buNone/>
            </a:pPr>
            <a:r>
              <a:t/>
            </a:r>
            <a:endParaRPr sz="1200">
              <a:highlight>
                <a:srgbClr val="FFFFFF"/>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3"/>
          <p:cNvSpPr txBox="1"/>
          <p:nvPr>
            <p:ph type="title"/>
          </p:nvPr>
        </p:nvSpPr>
        <p:spPr>
          <a:xfrm>
            <a:off x="311700" y="10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a:t>
            </a:r>
            <a:endParaRPr/>
          </a:p>
        </p:txBody>
      </p:sp>
      <p:sp>
        <p:nvSpPr>
          <p:cNvPr id="328" name="Google Shape;328;p53"/>
          <p:cNvSpPr txBox="1"/>
          <p:nvPr>
            <p:ph idx="1" type="body"/>
          </p:nvPr>
        </p:nvSpPr>
        <p:spPr>
          <a:xfrm>
            <a:off x="4572000" y="441000"/>
            <a:ext cx="4260300" cy="44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highlight>
                  <a:srgbClr val="FFFFFF"/>
                </a:highlight>
              </a:rPr>
              <a:t>Analysis #5:</a:t>
            </a:r>
            <a:endParaRPr b="1" sz="1200">
              <a:highlight>
                <a:srgbClr val="FFFFFF"/>
              </a:highlight>
            </a:endParaRPr>
          </a:p>
          <a:p>
            <a:pPr indent="0" lvl="0" marL="0" rtl="0" algn="l">
              <a:spcBef>
                <a:spcPts val="500"/>
              </a:spcBef>
              <a:spcAft>
                <a:spcPts val="0"/>
              </a:spcAft>
              <a:buNone/>
            </a:pPr>
            <a:r>
              <a:t/>
            </a:r>
            <a:endParaRPr b="1" sz="1200">
              <a:highlight>
                <a:srgbClr val="FFFFFF"/>
              </a:highlight>
            </a:endParaRPr>
          </a:p>
          <a:p>
            <a:pPr indent="0" lvl="0" marL="0" rtl="0" algn="l">
              <a:spcBef>
                <a:spcPts val="500"/>
              </a:spcBef>
              <a:spcAft>
                <a:spcPts val="0"/>
              </a:spcAft>
              <a:buNone/>
            </a:pPr>
            <a:r>
              <a:rPr b="1" i="1" lang="en" sz="1200">
                <a:highlight>
                  <a:srgbClr val="FFFFFF"/>
                </a:highlight>
              </a:rPr>
              <a:t>Distribution of Snoozing Duration (min)</a:t>
            </a:r>
            <a:endParaRPr b="1" i="1" sz="1200">
              <a:highlight>
                <a:srgbClr val="FFFFFF"/>
              </a:highlight>
            </a:endParaRPr>
          </a:p>
          <a:p>
            <a:pPr indent="0" lvl="0" marL="0" rtl="0" algn="l">
              <a:spcBef>
                <a:spcPts val="500"/>
              </a:spcBef>
              <a:spcAft>
                <a:spcPts val="0"/>
              </a:spcAft>
              <a:buNone/>
            </a:pPr>
            <a:r>
              <a:t/>
            </a:r>
            <a:endParaRPr b="1" sz="1200">
              <a:highlight>
                <a:srgbClr val="FFFFFF"/>
              </a:highlight>
            </a:endParaRPr>
          </a:p>
          <a:p>
            <a:pPr indent="0" lvl="0" marL="0" rtl="0" algn="l">
              <a:spcBef>
                <a:spcPts val="500"/>
              </a:spcBef>
              <a:spcAft>
                <a:spcPts val="0"/>
              </a:spcAft>
              <a:buNone/>
            </a:pPr>
            <a:r>
              <a:rPr lang="en" sz="1200">
                <a:highlight>
                  <a:srgbClr val="FFFFFF"/>
                </a:highlight>
              </a:rPr>
              <a:t>This histogram shows the distribution of snoozing time each morning. Usually, I lay in bed for a while before actually getting up. This histogram shows that I usually snooze for around 10-20 minutes, or 30-35 minutes.</a:t>
            </a:r>
            <a:endParaRPr sz="1200">
              <a:highlight>
                <a:srgbClr val="FFFFFF"/>
              </a:highlight>
            </a:endParaRPr>
          </a:p>
          <a:p>
            <a:pPr indent="0" lvl="0" marL="0" rtl="0" algn="l">
              <a:spcBef>
                <a:spcPts val="500"/>
              </a:spcBef>
              <a:spcAft>
                <a:spcPts val="0"/>
              </a:spcAft>
              <a:buNone/>
            </a:pPr>
            <a:r>
              <a:t/>
            </a:r>
            <a:endParaRPr b="1" sz="1200"/>
          </a:p>
          <a:p>
            <a:pPr indent="0" lvl="0" marL="0" rtl="0" algn="l">
              <a:spcBef>
                <a:spcPts val="1200"/>
              </a:spcBef>
              <a:spcAft>
                <a:spcPts val="1200"/>
              </a:spcAft>
              <a:buNone/>
            </a:pPr>
            <a:r>
              <a:t/>
            </a:r>
            <a:endParaRPr sz="1000"/>
          </a:p>
        </p:txBody>
      </p:sp>
      <p:pic>
        <p:nvPicPr>
          <p:cNvPr id="329" name="Google Shape;329;p53"/>
          <p:cNvPicPr preferRelativeResize="0"/>
          <p:nvPr/>
        </p:nvPicPr>
        <p:blipFill>
          <a:blip r:embed="rId4">
            <a:alphaModFix/>
          </a:blip>
          <a:stretch>
            <a:fillRect/>
          </a:stretch>
        </p:blipFill>
        <p:spPr>
          <a:xfrm>
            <a:off x="197275" y="1589550"/>
            <a:ext cx="4267200" cy="2883439"/>
          </a:xfrm>
          <a:prstGeom prst="rect">
            <a:avLst/>
          </a:prstGeom>
          <a:noFill/>
          <a:ln>
            <a:noFill/>
          </a:ln>
        </p:spPr>
      </p:pic>
      <p:sp>
        <p:nvSpPr>
          <p:cNvPr id="330" name="Google Shape;330;p53"/>
          <p:cNvSpPr txBox="1"/>
          <p:nvPr/>
        </p:nvSpPr>
        <p:spPr>
          <a:xfrm>
            <a:off x="311700" y="1220250"/>
            <a:ext cx="430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Snoozing </a:t>
            </a:r>
            <a:r>
              <a:rPr lang="en" sz="1200">
                <a:solidFill>
                  <a:schemeClr val="dk2"/>
                </a:solidFill>
              </a:rPr>
              <a:t>Duration Distribution</a:t>
            </a:r>
            <a:endParaRPr sz="12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Steven Zhang: Journey of being a scientist</a:t>
            </a:r>
            <a:endParaRPr/>
          </a:p>
        </p:txBody>
      </p:sp>
      <p:sp>
        <p:nvSpPr>
          <p:cNvPr id="336" name="Google Shape;336;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u="sng"/>
              <a:t>What kind of experimentation you did to improve outcome?</a:t>
            </a:r>
            <a:endParaRPr sz="1000" u="sng"/>
          </a:p>
          <a:p>
            <a:pPr indent="0" lvl="0" marL="0" rtl="0" algn="l">
              <a:spcBef>
                <a:spcPts val="1200"/>
              </a:spcBef>
              <a:spcAft>
                <a:spcPts val="0"/>
              </a:spcAft>
              <a:buClr>
                <a:schemeClr val="dk1"/>
              </a:buClr>
              <a:buSzPts val="1100"/>
              <a:buFont typeface="Arial"/>
              <a:buNone/>
            </a:pPr>
            <a:r>
              <a:rPr lang="en" sz="1000"/>
              <a:t>Due to this project, I became more interested in tracking how caffeine intake and sleep duration influenced my energy and productivity throughout the day.</a:t>
            </a:r>
            <a:r>
              <a:rPr lang="en" sz="1000"/>
              <a:t> At first, I assumed that more sleep and caffeine would make me feel more energized and thus make me more productive. However, I found out that my average energy did not have a relationship with my caffeine intake, and on a majority of days, my productivity stayed between 2-4 hours regardless of how much energy I felt. </a:t>
            </a:r>
            <a:r>
              <a:rPr lang="en" sz="1000"/>
              <a:t>To improve the outcome, I tried to have a better balance of sleep and caffeine so that I can have more energy throughout the day, and focus that energy on being more productive.</a:t>
            </a:r>
            <a:r>
              <a:rPr lang="en" sz="1000"/>
              <a:t> </a:t>
            </a:r>
            <a:r>
              <a:rPr lang="en" sz="1000"/>
              <a:t>Throughout this experiment, I also noticed that external factors such as events have taken up my whole day, making me energetic but left no room to do productive things like study.</a:t>
            </a:r>
            <a:r>
              <a:rPr lang="en" sz="1000"/>
              <a:t> I will also focus on improving this aspect so that external factors do not take up so much of my time.</a:t>
            </a:r>
            <a:endParaRPr sz="1000"/>
          </a:p>
          <a:p>
            <a:pPr indent="0" lvl="0" marL="0" rtl="0" algn="l">
              <a:spcBef>
                <a:spcPts val="1200"/>
              </a:spcBef>
              <a:spcAft>
                <a:spcPts val="0"/>
              </a:spcAft>
              <a:buNone/>
            </a:pPr>
            <a:r>
              <a:rPr lang="en" sz="1000" u="sng"/>
              <a:t>What works what does not work </a:t>
            </a:r>
            <a:endParaRPr sz="1000" u="sng"/>
          </a:p>
          <a:p>
            <a:pPr indent="0" lvl="0" marL="0" rtl="0" algn="l">
              <a:spcBef>
                <a:spcPts val="1200"/>
              </a:spcBef>
              <a:spcAft>
                <a:spcPts val="0"/>
              </a:spcAft>
              <a:buClr>
                <a:schemeClr val="dk1"/>
              </a:buClr>
              <a:buSzPts val="1100"/>
              <a:buFont typeface="Arial"/>
              <a:buNone/>
            </a:pPr>
            <a:r>
              <a:rPr lang="en" sz="1000"/>
              <a:t>My optimal energy and productivity comes from moderate sleep (around 6 hours) and moderate caffeine intake. Excessive amounts of caffeine does not always work, since I may experience a caffeine crash. Too little sleep does not work because I would be too tired later on in the day, and too much sleep also correlated with less energy and productivity.</a:t>
            </a:r>
            <a:endParaRPr sz="1000"/>
          </a:p>
          <a:p>
            <a:pPr indent="0" lvl="0" marL="0" rtl="0" algn="l">
              <a:spcBef>
                <a:spcPts val="1200"/>
              </a:spcBef>
              <a:spcAft>
                <a:spcPts val="0"/>
              </a:spcAft>
              <a:buNone/>
            </a:pPr>
            <a:r>
              <a:rPr lang="en" sz="1000" u="sng"/>
              <a:t>What is one message you want to send to your peer regarding improving outcome</a:t>
            </a:r>
            <a:endParaRPr sz="1000" u="sng"/>
          </a:p>
          <a:p>
            <a:pPr indent="0" lvl="0" marL="0" rtl="0" algn="l">
              <a:spcBef>
                <a:spcPts val="1200"/>
              </a:spcBef>
              <a:spcAft>
                <a:spcPts val="1200"/>
              </a:spcAft>
              <a:buNone/>
            </a:pPr>
            <a:r>
              <a:rPr lang="en" sz="1000"/>
              <a:t>Having a consistent sleep schedule and taking moderate </a:t>
            </a:r>
            <a:r>
              <a:rPr lang="en" sz="1000"/>
              <a:t>amounts of caffeine may help you focus on being productive during the day while also having the energy to do so.</a:t>
            </a:r>
            <a:endParaRPr sz="1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ph type="title"/>
          </p:nvPr>
        </p:nvSpPr>
        <p:spPr>
          <a:xfrm>
            <a:off x="0" y="6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Dongthi Nguyen</a:t>
            </a:r>
            <a:endParaRPr/>
          </a:p>
          <a:p>
            <a:pPr indent="0" lvl="0" marL="0" rtl="0" algn="l">
              <a:spcBef>
                <a:spcPts val="0"/>
              </a:spcBef>
              <a:spcAft>
                <a:spcPts val="0"/>
              </a:spcAft>
              <a:buNone/>
            </a:pPr>
            <a:r>
              <a:t/>
            </a:r>
            <a:endParaRPr/>
          </a:p>
        </p:txBody>
      </p:sp>
      <p:sp>
        <p:nvSpPr>
          <p:cNvPr id="342" name="Google Shape;342;p55"/>
          <p:cNvSpPr txBox="1"/>
          <p:nvPr>
            <p:ph idx="1" type="body"/>
          </p:nvPr>
        </p:nvSpPr>
        <p:spPr>
          <a:xfrm>
            <a:off x="4617900" y="1069600"/>
            <a:ext cx="4260300" cy="380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highlight>
                  <a:srgbClr val="FFFFFF"/>
                </a:highlight>
              </a:rPr>
              <a:t>My first </a:t>
            </a:r>
            <a:r>
              <a:rPr b="1" lang="en" sz="1200">
                <a:highlight>
                  <a:srgbClr val="FFFFFF"/>
                </a:highlight>
              </a:rPr>
              <a:t>analysis</a:t>
            </a:r>
            <a:r>
              <a:rPr b="1" lang="en" sz="1200">
                <a:highlight>
                  <a:srgbClr val="FFFFFF"/>
                </a:highlight>
              </a:rPr>
              <a:t> was to </a:t>
            </a:r>
            <a:r>
              <a:rPr b="1" lang="en" sz="1200">
                <a:highlight>
                  <a:srgbClr val="FFFFFF"/>
                </a:highlight>
              </a:rPr>
              <a:t>focus on the correlation between sleep length, and energy levels.</a:t>
            </a:r>
            <a:endParaRPr b="1" sz="1200">
              <a:highlight>
                <a:srgbClr val="FFFFFF"/>
              </a:highlight>
            </a:endParaRPr>
          </a:p>
          <a:p>
            <a:pPr indent="0" lvl="0" marL="0" rtl="0" algn="l">
              <a:spcBef>
                <a:spcPts val="500"/>
              </a:spcBef>
              <a:spcAft>
                <a:spcPts val="0"/>
              </a:spcAft>
              <a:buNone/>
            </a:pPr>
            <a:r>
              <a:rPr lang="en" sz="1200">
                <a:highlight>
                  <a:srgbClr val="FFFFFF"/>
                </a:highlight>
              </a:rPr>
              <a:t>My hypothesis was that if I were to increased the duration of sleep of sleep it would produce higher energy.</a:t>
            </a:r>
            <a:endParaRPr sz="1200">
              <a:highlight>
                <a:srgbClr val="FFFFFF"/>
              </a:highlight>
            </a:endParaRPr>
          </a:p>
          <a:p>
            <a:pPr indent="0" lvl="0" marL="0" rtl="0" algn="l">
              <a:spcBef>
                <a:spcPts val="500"/>
              </a:spcBef>
              <a:spcAft>
                <a:spcPts val="0"/>
              </a:spcAft>
              <a:buNone/>
            </a:pPr>
            <a:r>
              <a:rPr lang="en" sz="1200">
                <a:highlight>
                  <a:srgbClr val="FFFFFF"/>
                </a:highlight>
              </a:rPr>
              <a:t>In this plot, the x-axis is sleep length, and as sleep length increases, the higher the y-value is, which was energy levels. This supports the first half of my hypothesis that increased sleep length does have a correlation with higher energy. </a:t>
            </a:r>
            <a:endParaRPr sz="1200">
              <a:highlight>
                <a:srgbClr val="FFFFFF"/>
              </a:highlight>
            </a:endParaRPr>
          </a:p>
          <a:p>
            <a:pPr indent="0" lvl="0" marL="0" rtl="0" algn="l">
              <a:spcBef>
                <a:spcPts val="500"/>
              </a:spcBef>
              <a:spcAft>
                <a:spcPts val="0"/>
              </a:spcAft>
              <a:buNone/>
            </a:pPr>
            <a:r>
              <a:rPr lang="en" sz="1200">
                <a:highlight>
                  <a:srgbClr val="FFFFFF"/>
                </a:highlight>
              </a:rPr>
              <a:t>However I noticed that too much sleep can lead to potentially lower energy levels, examples are the days when I have 10+ hours of sleep yet, my energy levels were lower compared to the days I only got 8 hours of sleep. Still having a good amount of sleep will result in having higher energy levels, compare to having no sleep. </a:t>
            </a:r>
            <a:endParaRPr sz="1200">
              <a:highlight>
                <a:srgbClr val="FFFFFF"/>
              </a:highlight>
            </a:endParaRPr>
          </a:p>
          <a:p>
            <a:pPr indent="0" lvl="0" marL="0" rtl="0" algn="l">
              <a:spcBef>
                <a:spcPts val="500"/>
              </a:spcBef>
              <a:spcAft>
                <a:spcPts val="0"/>
              </a:spcAft>
              <a:buNone/>
            </a:pPr>
            <a:r>
              <a:t/>
            </a:r>
            <a:endParaRPr b="1" sz="1200"/>
          </a:p>
          <a:p>
            <a:pPr indent="0" lvl="0" marL="0" rtl="0" algn="l">
              <a:spcBef>
                <a:spcPts val="1200"/>
              </a:spcBef>
              <a:spcAft>
                <a:spcPts val="1200"/>
              </a:spcAft>
              <a:buNone/>
            </a:pPr>
            <a:r>
              <a:t/>
            </a:r>
            <a:endParaRPr sz="1000"/>
          </a:p>
        </p:txBody>
      </p:sp>
      <p:sp>
        <p:nvSpPr>
          <p:cNvPr id="343" name="Google Shape;343;p55"/>
          <p:cNvSpPr txBox="1"/>
          <p:nvPr/>
        </p:nvSpPr>
        <p:spPr>
          <a:xfrm>
            <a:off x="311700" y="1220250"/>
            <a:ext cx="430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2"/>
              </a:solidFill>
            </a:endParaRPr>
          </a:p>
        </p:txBody>
      </p:sp>
      <p:sp>
        <p:nvSpPr>
          <p:cNvPr id="344" name="Google Shape;344;p55"/>
          <p:cNvSpPr txBox="1"/>
          <p:nvPr/>
        </p:nvSpPr>
        <p:spPr>
          <a:xfrm>
            <a:off x="0" y="496900"/>
            <a:ext cx="8706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800">
                <a:solidFill>
                  <a:schemeClr val="dk2"/>
                </a:solidFill>
              </a:rPr>
              <a:t>Hypothesis: Increasing sleep length improves energy </a:t>
            </a:r>
            <a:r>
              <a:rPr b="1" i="1" lang="en" sz="1800">
                <a:solidFill>
                  <a:schemeClr val="dk2"/>
                </a:solidFill>
              </a:rPr>
              <a:t>levels</a:t>
            </a:r>
            <a:r>
              <a:rPr b="1" i="1" lang="en" sz="1800">
                <a:solidFill>
                  <a:schemeClr val="dk2"/>
                </a:solidFill>
              </a:rPr>
              <a:t>, which then can also increases hours of productivity. </a:t>
            </a:r>
            <a:endParaRPr b="1" i="1" sz="1800">
              <a:solidFill>
                <a:schemeClr val="dk2"/>
              </a:solidFill>
            </a:endParaRPr>
          </a:p>
        </p:txBody>
      </p:sp>
      <p:pic>
        <p:nvPicPr>
          <p:cNvPr id="345" name="Google Shape;345;p55"/>
          <p:cNvPicPr preferRelativeResize="0"/>
          <p:nvPr/>
        </p:nvPicPr>
        <p:blipFill>
          <a:blip r:embed="rId4">
            <a:alphaModFix/>
          </a:blip>
          <a:stretch>
            <a:fillRect/>
          </a:stretch>
        </p:blipFill>
        <p:spPr>
          <a:xfrm>
            <a:off x="372600" y="1471575"/>
            <a:ext cx="3430400" cy="31685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a:t>
            </a:r>
            <a:endParaRPr/>
          </a:p>
        </p:txBody>
      </p:sp>
      <p:sp>
        <p:nvSpPr>
          <p:cNvPr id="351" name="Google Shape;351;p56"/>
          <p:cNvSpPr txBox="1"/>
          <p:nvPr>
            <p:ph idx="1" type="body"/>
          </p:nvPr>
        </p:nvSpPr>
        <p:spPr>
          <a:xfrm>
            <a:off x="4789600" y="771375"/>
            <a:ext cx="3963900" cy="38967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None/>
            </a:pPr>
            <a:r>
              <a:rPr b="1" lang="en" sz="1200"/>
              <a:t>My second analysis was to analyze the correlation between high energy levels, and the productivity hours. </a:t>
            </a:r>
            <a:endParaRPr b="1" sz="1200"/>
          </a:p>
          <a:p>
            <a:pPr indent="0" lvl="0" marL="0" rtl="0" algn="l">
              <a:lnSpc>
                <a:spcPct val="95000"/>
              </a:lnSpc>
              <a:spcBef>
                <a:spcPts val="1200"/>
              </a:spcBef>
              <a:spcAft>
                <a:spcPts val="0"/>
              </a:spcAft>
              <a:buNone/>
            </a:pPr>
            <a:r>
              <a:rPr lang="en" sz="1200"/>
              <a:t>Based on the plot the correlation seems to be weak-to-moderate correlation between the two variables.</a:t>
            </a:r>
            <a:endParaRPr sz="1200"/>
          </a:p>
          <a:p>
            <a:pPr indent="0" lvl="0" marL="0" rtl="0" algn="l">
              <a:lnSpc>
                <a:spcPct val="95000"/>
              </a:lnSpc>
              <a:spcBef>
                <a:spcPts val="1200"/>
              </a:spcBef>
              <a:spcAft>
                <a:spcPts val="0"/>
              </a:spcAft>
              <a:buNone/>
            </a:pPr>
            <a:r>
              <a:rPr lang="en" sz="1200"/>
              <a:t> There were several days where i felt energetic but still was not very productive compared to days when I was tired yet still was very productive. This </a:t>
            </a:r>
            <a:r>
              <a:rPr lang="en" sz="1200"/>
              <a:t>explanation</a:t>
            </a:r>
            <a:r>
              <a:rPr lang="en" sz="1200"/>
              <a:t> could be explained by external factors like deadlines, exams, and extracurricular activities. One of the days I was very productive was during Hackathon, which I lacked sleep due to putting all my time into my project to ensure it will be finished before the deadline.</a:t>
            </a:r>
            <a:endParaRPr sz="1200"/>
          </a:p>
          <a:p>
            <a:pPr indent="0" lvl="0" marL="0" rtl="0" algn="l">
              <a:lnSpc>
                <a:spcPct val="95000"/>
              </a:lnSpc>
              <a:spcBef>
                <a:spcPts val="1200"/>
              </a:spcBef>
              <a:spcAft>
                <a:spcPts val="1200"/>
              </a:spcAft>
              <a:buNone/>
            </a:pPr>
            <a:r>
              <a:rPr lang="en" sz="1200"/>
              <a:t>This plot does fully support my hypothesis, which predicted that high energy levels would directly lead to more productive time, instead my data suggests productivity is influenced by a lot of factors, instead of just energy</a:t>
            </a:r>
            <a:endParaRPr sz="1200"/>
          </a:p>
        </p:txBody>
      </p:sp>
      <p:pic>
        <p:nvPicPr>
          <p:cNvPr id="352" name="Google Shape;352;p56"/>
          <p:cNvPicPr preferRelativeResize="0"/>
          <p:nvPr/>
        </p:nvPicPr>
        <p:blipFill>
          <a:blip r:embed="rId3">
            <a:alphaModFix/>
          </a:blip>
          <a:stretch>
            <a:fillRect/>
          </a:stretch>
        </p:blipFill>
        <p:spPr>
          <a:xfrm>
            <a:off x="152400" y="725100"/>
            <a:ext cx="4267550" cy="39892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a:t>
            </a:r>
            <a:endParaRPr/>
          </a:p>
        </p:txBody>
      </p:sp>
      <p:sp>
        <p:nvSpPr>
          <p:cNvPr id="358" name="Google Shape;358;p57"/>
          <p:cNvSpPr txBox="1"/>
          <p:nvPr>
            <p:ph idx="1" type="body"/>
          </p:nvPr>
        </p:nvSpPr>
        <p:spPr>
          <a:xfrm>
            <a:off x="4396350" y="924400"/>
            <a:ext cx="4482900" cy="38967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200"/>
              <a:t>For my </a:t>
            </a:r>
            <a:r>
              <a:rPr b="1" lang="en" sz="1200"/>
              <a:t>third analysis I compared my sleep length directly with my productivity hours. </a:t>
            </a:r>
            <a:endParaRPr b="1" sz="1200"/>
          </a:p>
          <a:p>
            <a:pPr indent="0" lvl="0" marL="0" rtl="0" algn="l">
              <a:lnSpc>
                <a:spcPct val="95000"/>
              </a:lnSpc>
              <a:spcBef>
                <a:spcPts val="1200"/>
              </a:spcBef>
              <a:spcAft>
                <a:spcPts val="0"/>
              </a:spcAft>
              <a:buNone/>
            </a:pPr>
            <a:r>
              <a:rPr lang="en" sz="1200"/>
              <a:t>The plots shows that there is little correlation between the two variables. </a:t>
            </a:r>
            <a:endParaRPr sz="1200"/>
          </a:p>
          <a:p>
            <a:pPr indent="0" lvl="0" marL="0" rtl="0" algn="l">
              <a:lnSpc>
                <a:spcPct val="95000"/>
              </a:lnSpc>
              <a:spcBef>
                <a:spcPts val="1200"/>
              </a:spcBef>
              <a:spcAft>
                <a:spcPts val="0"/>
              </a:spcAft>
              <a:buNone/>
            </a:pPr>
            <a:r>
              <a:rPr lang="en" sz="1200"/>
              <a:t>For example week 1 was almost my most highest average slept week, but it was my least productive wee. Another example is week 5, which had the lowest average sleep, yet it was one of my most productive weeks.</a:t>
            </a:r>
            <a:endParaRPr sz="1200"/>
          </a:p>
          <a:p>
            <a:pPr indent="0" lvl="0" marL="0" rtl="0" algn="l">
              <a:lnSpc>
                <a:spcPct val="95000"/>
              </a:lnSpc>
              <a:spcBef>
                <a:spcPts val="1200"/>
              </a:spcBef>
              <a:spcAft>
                <a:spcPts val="1200"/>
              </a:spcAft>
              <a:buNone/>
            </a:pPr>
            <a:r>
              <a:rPr lang="en" sz="1200"/>
              <a:t>This rejects my hypothesis, that having more sleep will lead to higher levels of productivity, due to having higher energy levels. This plot is indicating that having more sleep on average, does not necessarily lead to more productivity, and further supports that productivity is more related to external factors that forces us to be productive.</a:t>
            </a:r>
            <a:endParaRPr sz="1200"/>
          </a:p>
        </p:txBody>
      </p:sp>
      <p:pic>
        <p:nvPicPr>
          <p:cNvPr id="359" name="Google Shape;359;p57"/>
          <p:cNvPicPr preferRelativeResize="0"/>
          <p:nvPr/>
        </p:nvPicPr>
        <p:blipFill>
          <a:blip r:embed="rId4">
            <a:alphaModFix/>
          </a:blip>
          <a:stretch>
            <a:fillRect/>
          </a:stretch>
        </p:blipFill>
        <p:spPr>
          <a:xfrm>
            <a:off x="152400" y="572700"/>
            <a:ext cx="3732749" cy="2195625"/>
          </a:xfrm>
          <a:prstGeom prst="rect">
            <a:avLst/>
          </a:prstGeom>
          <a:noFill/>
          <a:ln>
            <a:noFill/>
          </a:ln>
        </p:spPr>
      </p:pic>
      <p:pic>
        <p:nvPicPr>
          <p:cNvPr id="360" name="Google Shape;360;p57"/>
          <p:cNvPicPr preferRelativeResize="0"/>
          <p:nvPr/>
        </p:nvPicPr>
        <p:blipFill>
          <a:blip r:embed="rId5">
            <a:alphaModFix/>
          </a:blip>
          <a:stretch>
            <a:fillRect/>
          </a:stretch>
        </p:blipFill>
        <p:spPr>
          <a:xfrm>
            <a:off x="152400" y="2813575"/>
            <a:ext cx="3732750" cy="22374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8"/>
          <p:cNvSpPr txBox="1"/>
          <p:nvPr>
            <p:ph type="title"/>
          </p:nvPr>
        </p:nvSpPr>
        <p:spPr>
          <a:xfrm>
            <a:off x="162050" y="493925"/>
            <a:ext cx="7914000" cy="93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a:t>
            </a:r>
            <a:r>
              <a:rPr lang="en"/>
              <a:t>20 to 60 minutes of exercise before doing cognitive tasks will increase the duration of deep work</a:t>
            </a:r>
            <a:endParaRPr/>
          </a:p>
        </p:txBody>
      </p:sp>
      <p:sp>
        <p:nvSpPr>
          <p:cNvPr id="366" name="Google Shape;366;p58"/>
          <p:cNvSpPr txBox="1"/>
          <p:nvPr>
            <p:ph idx="1" type="body"/>
          </p:nvPr>
        </p:nvSpPr>
        <p:spPr>
          <a:xfrm>
            <a:off x="5083500" y="1750875"/>
            <a:ext cx="3748800" cy="317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
              <a:t>I began this experiment with a lack of drive, however I began to put more effort into focusing more after doing exercise</a:t>
            </a:r>
            <a:r>
              <a:rPr lang="en"/>
              <a:t>. I </a:t>
            </a:r>
            <a:r>
              <a:rPr lang="en"/>
              <a:t>intentionally</a:t>
            </a:r>
            <a:r>
              <a:rPr lang="en"/>
              <a:t> </a:t>
            </a:r>
            <a:r>
              <a:rPr lang="en"/>
              <a:t>experimented</a:t>
            </a:r>
            <a:r>
              <a:rPr lang="en"/>
              <a:t> with different exercise durations and intensity, but after the second week, </a:t>
            </a:r>
            <a:r>
              <a:rPr lang="en"/>
              <a:t>I began with narrowing the time and intensity of my exercise time to be between 20-60 minutes.</a:t>
            </a:r>
            <a:r>
              <a:rPr lang="en"/>
              <a:t> </a:t>
            </a:r>
            <a:r>
              <a:rPr lang="en"/>
              <a:t>This reflects my hypothesis as I began to average more focus time as the weeks progressed as I began to average the </a:t>
            </a:r>
            <a:r>
              <a:rPr lang="en"/>
              <a:t>appropriate</a:t>
            </a:r>
            <a:r>
              <a:rPr lang="en"/>
              <a:t> time supporting my hypothesis. </a:t>
            </a:r>
            <a:endParaRPr/>
          </a:p>
        </p:txBody>
      </p:sp>
      <p:pic>
        <p:nvPicPr>
          <p:cNvPr id="367" name="Google Shape;367;p58"/>
          <p:cNvPicPr preferRelativeResize="0"/>
          <p:nvPr/>
        </p:nvPicPr>
        <p:blipFill>
          <a:blip r:embed="rId4">
            <a:alphaModFix/>
          </a:blip>
          <a:stretch>
            <a:fillRect/>
          </a:stretch>
        </p:blipFill>
        <p:spPr>
          <a:xfrm>
            <a:off x="162050" y="1744775"/>
            <a:ext cx="4778824" cy="3188629"/>
          </a:xfrm>
          <a:prstGeom prst="rect">
            <a:avLst/>
          </a:prstGeom>
          <a:noFill/>
          <a:ln>
            <a:noFill/>
          </a:ln>
        </p:spPr>
      </p:pic>
      <p:sp>
        <p:nvSpPr>
          <p:cNvPr id="368" name="Google Shape;368;p58"/>
          <p:cNvSpPr txBox="1"/>
          <p:nvPr/>
        </p:nvSpPr>
        <p:spPr>
          <a:xfrm>
            <a:off x="223675" y="81100"/>
            <a:ext cx="147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Chris Song</a:t>
            </a:r>
            <a:endParaRPr sz="1800">
              <a:solidFill>
                <a:schemeClr val="dk2"/>
              </a:solidFill>
            </a:endParaRPr>
          </a:p>
        </p:txBody>
      </p:sp>
      <p:sp>
        <p:nvSpPr>
          <p:cNvPr id="369" name="Google Shape;369;p58"/>
          <p:cNvSpPr txBox="1"/>
          <p:nvPr/>
        </p:nvSpPr>
        <p:spPr>
          <a:xfrm>
            <a:off x="64250" y="1335375"/>
            <a:ext cx="5785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Week Pattern (I</a:t>
            </a:r>
            <a:r>
              <a:rPr lang="en" sz="1500">
                <a:solidFill>
                  <a:schemeClr val="dk2"/>
                </a:solidFill>
              </a:rPr>
              <a:t> do not have weekdays as a column in my sheets)</a:t>
            </a:r>
            <a:endParaRPr sz="1500">
              <a:solidFill>
                <a:schemeClr val="dk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a:t>
            </a:r>
            <a:endParaRPr/>
          </a:p>
        </p:txBody>
      </p:sp>
      <p:sp>
        <p:nvSpPr>
          <p:cNvPr id="375" name="Google Shape;375;p59"/>
          <p:cNvSpPr txBox="1"/>
          <p:nvPr>
            <p:ph idx="1" type="body"/>
          </p:nvPr>
        </p:nvSpPr>
        <p:spPr>
          <a:xfrm>
            <a:off x="5332250" y="572700"/>
            <a:ext cx="3531000" cy="42012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300"/>
              <a:t>My Final </a:t>
            </a:r>
            <a:r>
              <a:rPr b="1" lang="en" sz="1300"/>
              <a:t>analysis</a:t>
            </a:r>
            <a:r>
              <a:rPr b="1" lang="en" sz="1300"/>
              <a:t> was to analyze the trends for sleep, energy, and productivity as the days go by.</a:t>
            </a:r>
            <a:endParaRPr b="1" sz="1300"/>
          </a:p>
          <a:p>
            <a:pPr indent="0" lvl="0" marL="0" rtl="0" algn="l">
              <a:lnSpc>
                <a:spcPct val="95000"/>
              </a:lnSpc>
              <a:spcBef>
                <a:spcPts val="1200"/>
              </a:spcBef>
              <a:spcAft>
                <a:spcPts val="0"/>
              </a:spcAft>
              <a:buNone/>
            </a:pPr>
            <a:r>
              <a:rPr lang="en" sz="1300"/>
              <a:t>As shown in the plot the line trends for sleep and energy </a:t>
            </a:r>
            <a:r>
              <a:rPr lang="en" sz="1300"/>
              <a:t>are</a:t>
            </a:r>
            <a:r>
              <a:rPr lang="en" sz="1300"/>
              <a:t> very </a:t>
            </a:r>
            <a:r>
              <a:rPr lang="en" sz="1300"/>
              <a:t>similar</a:t>
            </a:r>
            <a:r>
              <a:rPr lang="en" sz="1300"/>
              <a:t>, and reinforces my hypothesis that, the two variables are correlated with each other.</a:t>
            </a:r>
            <a:endParaRPr sz="1300"/>
          </a:p>
          <a:p>
            <a:pPr indent="0" lvl="0" marL="0" rtl="0" algn="l">
              <a:lnSpc>
                <a:spcPct val="95000"/>
              </a:lnSpc>
              <a:spcBef>
                <a:spcPts val="1200"/>
              </a:spcBef>
              <a:spcAft>
                <a:spcPts val="0"/>
              </a:spcAft>
              <a:buNone/>
            </a:pPr>
            <a:r>
              <a:rPr lang="en" sz="1300"/>
              <a:t>For productivity it seems like it is contrasting with the other plots, rejecting my hypothesis that sleep and energy directly affects productivity.</a:t>
            </a:r>
            <a:endParaRPr sz="1300"/>
          </a:p>
          <a:p>
            <a:pPr indent="0" lvl="0" marL="0" rtl="0" algn="l">
              <a:lnSpc>
                <a:spcPct val="95000"/>
              </a:lnSpc>
              <a:spcBef>
                <a:spcPts val="1200"/>
              </a:spcBef>
              <a:spcAft>
                <a:spcPts val="1200"/>
              </a:spcAft>
              <a:buNone/>
            </a:pPr>
            <a:r>
              <a:rPr lang="en" sz="1300"/>
              <a:t>This line charts displays al the data I collected throughout this project, and is the summary for all of my work.</a:t>
            </a:r>
            <a:endParaRPr sz="1300"/>
          </a:p>
        </p:txBody>
      </p:sp>
      <p:pic>
        <p:nvPicPr>
          <p:cNvPr id="376" name="Google Shape;376;p59"/>
          <p:cNvPicPr preferRelativeResize="0"/>
          <p:nvPr/>
        </p:nvPicPr>
        <p:blipFill>
          <a:blip r:embed="rId3">
            <a:alphaModFix/>
          </a:blip>
          <a:stretch>
            <a:fillRect/>
          </a:stretch>
        </p:blipFill>
        <p:spPr>
          <a:xfrm>
            <a:off x="128888" y="572700"/>
            <a:ext cx="2411476" cy="2265550"/>
          </a:xfrm>
          <a:prstGeom prst="rect">
            <a:avLst/>
          </a:prstGeom>
          <a:noFill/>
          <a:ln>
            <a:noFill/>
          </a:ln>
        </p:spPr>
      </p:pic>
      <p:pic>
        <p:nvPicPr>
          <p:cNvPr id="377" name="Google Shape;377;p59"/>
          <p:cNvPicPr preferRelativeResize="0"/>
          <p:nvPr/>
        </p:nvPicPr>
        <p:blipFill>
          <a:blip r:embed="rId4">
            <a:alphaModFix/>
          </a:blip>
          <a:stretch>
            <a:fillRect/>
          </a:stretch>
        </p:blipFill>
        <p:spPr>
          <a:xfrm>
            <a:off x="128900" y="2912875"/>
            <a:ext cx="2411475" cy="2230625"/>
          </a:xfrm>
          <a:prstGeom prst="rect">
            <a:avLst/>
          </a:prstGeom>
          <a:noFill/>
          <a:ln>
            <a:noFill/>
          </a:ln>
        </p:spPr>
      </p:pic>
      <p:pic>
        <p:nvPicPr>
          <p:cNvPr id="378" name="Google Shape;378;p59"/>
          <p:cNvPicPr preferRelativeResize="0"/>
          <p:nvPr/>
        </p:nvPicPr>
        <p:blipFill>
          <a:blip r:embed="rId5">
            <a:alphaModFix/>
          </a:blip>
          <a:stretch>
            <a:fillRect/>
          </a:stretch>
        </p:blipFill>
        <p:spPr>
          <a:xfrm>
            <a:off x="2760600" y="572700"/>
            <a:ext cx="2484200" cy="22979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Dongthi Nguyen Reflection</a:t>
            </a:r>
            <a:endParaRPr/>
          </a:p>
        </p:txBody>
      </p:sp>
      <p:sp>
        <p:nvSpPr>
          <p:cNvPr id="384" name="Google Shape;384;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To improve the outcome for my project I introduced sleep routines, incorporate various alarms, and monitoring apps to record my steps, sleep, and calories. In addition I made sure to record my data the moment I wake up, and before I go to bed to ensure accuracy. I recorded outliers, and provided </a:t>
            </a:r>
            <a:r>
              <a:rPr lang="en"/>
              <a:t>explanations. I had a strict routine, and followed it throughout the experiment.</a:t>
            </a:r>
            <a:endParaRPr/>
          </a:p>
          <a:p>
            <a:pPr indent="0" lvl="0" marL="0" rtl="0" algn="l">
              <a:spcBef>
                <a:spcPts val="1200"/>
              </a:spcBef>
              <a:spcAft>
                <a:spcPts val="0"/>
              </a:spcAft>
              <a:buNone/>
            </a:pPr>
            <a:r>
              <a:rPr lang="en"/>
              <a:t>A lot of my methods, is very practical like having apps record data, for you, and having a good morning and night routine significantly improves your data collection. However, I would say it is difficult to record going to bed, because it is easy to fall asleep, and being unaware of what time you fell asleep, which will cause your data to be inaccurate.</a:t>
            </a:r>
            <a:endParaRPr/>
          </a:p>
          <a:p>
            <a:pPr indent="0" lvl="0" marL="0" rtl="0" algn="l">
              <a:spcBef>
                <a:spcPts val="1200"/>
              </a:spcBef>
              <a:spcAft>
                <a:spcPts val="1200"/>
              </a:spcAft>
              <a:buNone/>
            </a:pPr>
            <a:r>
              <a:rPr lang="en"/>
              <a:t>A message for my peers, is to really mentally prepare yourself for data collection and keep your focus up, one mistake can lead to bad data, and inaccurate one that will skew your analysis.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1"/>
          <p:cNvSpPr txBox="1"/>
          <p:nvPr>
            <p:ph type="title"/>
          </p:nvPr>
        </p:nvSpPr>
        <p:spPr>
          <a:xfrm>
            <a:off x="223675" y="627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Trend of Focus</a:t>
            </a:r>
            <a:endParaRPr/>
          </a:p>
        </p:txBody>
      </p:sp>
      <p:sp>
        <p:nvSpPr>
          <p:cNvPr id="390" name="Google Shape;390;p61"/>
          <p:cNvSpPr txBox="1"/>
          <p:nvPr>
            <p:ph idx="1" type="body"/>
          </p:nvPr>
        </p:nvSpPr>
        <p:spPr>
          <a:xfrm>
            <a:off x="4572000" y="1402250"/>
            <a:ext cx="36672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n"/>
              <a:t>The trend of focus throughout this experiment was chaotic. </a:t>
            </a:r>
            <a:r>
              <a:rPr lang="en"/>
              <a:t>The dips in the graph represented mostly weekends, but some weekdays, where I didn’t want to </a:t>
            </a:r>
            <a:r>
              <a:rPr lang="en"/>
              <a:t>exercise/study or </a:t>
            </a:r>
            <a:r>
              <a:rPr lang="en"/>
              <a:t>days where I did more physical </a:t>
            </a:r>
            <a:r>
              <a:rPr lang="en"/>
              <a:t>activity so I may have had more trouble getting into deep work. Although this trend line fluctuates a lot, it still steadily showed focus beginning to go up. </a:t>
            </a:r>
            <a:r>
              <a:rPr lang="en"/>
              <a:t>This reflects the previous slides’ story where I began to narrow down my exercise duration and intensity as the experiment progressed. </a:t>
            </a:r>
            <a:endParaRPr/>
          </a:p>
        </p:txBody>
      </p:sp>
      <p:pic>
        <p:nvPicPr>
          <p:cNvPr id="391" name="Google Shape;391;p61"/>
          <p:cNvPicPr preferRelativeResize="0"/>
          <p:nvPr/>
        </p:nvPicPr>
        <p:blipFill>
          <a:blip r:embed="rId4">
            <a:alphaModFix/>
          </a:blip>
          <a:stretch>
            <a:fillRect/>
          </a:stretch>
        </p:blipFill>
        <p:spPr>
          <a:xfrm>
            <a:off x="223675" y="1402250"/>
            <a:ext cx="3891226" cy="3561025"/>
          </a:xfrm>
          <a:prstGeom prst="rect">
            <a:avLst/>
          </a:prstGeom>
          <a:noFill/>
          <a:ln>
            <a:noFill/>
          </a:ln>
        </p:spPr>
      </p:pic>
      <p:sp>
        <p:nvSpPr>
          <p:cNvPr id="392" name="Google Shape;392;p61"/>
          <p:cNvSpPr txBox="1"/>
          <p:nvPr/>
        </p:nvSpPr>
        <p:spPr>
          <a:xfrm>
            <a:off x="223675" y="165825"/>
            <a:ext cx="147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Chris Song</a:t>
            </a:r>
            <a:endParaRPr sz="1800">
              <a:solidFill>
                <a:schemeClr val="dk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2"/>
          <p:cNvSpPr txBox="1"/>
          <p:nvPr>
            <p:ph type="title"/>
          </p:nvPr>
        </p:nvSpPr>
        <p:spPr>
          <a:xfrm>
            <a:off x="240400" y="579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Distribution</a:t>
            </a:r>
            <a:r>
              <a:rPr lang="en"/>
              <a:t> of Focus</a:t>
            </a:r>
            <a:endParaRPr/>
          </a:p>
        </p:txBody>
      </p:sp>
      <p:sp>
        <p:nvSpPr>
          <p:cNvPr id="398" name="Google Shape;398;p62"/>
          <p:cNvSpPr txBox="1"/>
          <p:nvPr>
            <p:ph idx="1" type="body"/>
          </p:nvPr>
        </p:nvSpPr>
        <p:spPr>
          <a:xfrm>
            <a:off x="4871650" y="1152475"/>
            <a:ext cx="3960600" cy="3681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1200"/>
              </a:spcAft>
              <a:buNone/>
            </a:pPr>
            <a:r>
              <a:rPr lang="en"/>
              <a:t>To preface, 120 minutes of deep work is a satisfactory time for me in terms of this </a:t>
            </a:r>
            <a:r>
              <a:rPr lang="en"/>
              <a:t>experiment and in general. Deep work to me means to have a focus that does not break away for more than a minute. I</a:t>
            </a:r>
            <a:r>
              <a:rPr lang="en"/>
              <a:t>f I begin to have thoughts that diverge away from the task, I quickly jot them down to a paper next to me. If the thoughts become too loud, then that is when I stop and look at the clock. However, I set a timer that was in increments of 30 minutes to make the experiment more structured and provide visual clarity.</a:t>
            </a:r>
            <a:r>
              <a:rPr lang="en"/>
              <a:t> The 120 minute deep work sessions were the most common which may confirm my hypothesis. It was fascinating to see this grouping be the reality of this experiment because I was unfamiliar with how long I engage in deep work without exercise before a session. </a:t>
            </a:r>
            <a:r>
              <a:rPr lang="en"/>
              <a:t>I am more motivated to continue exercising before engaging in deep work because of this distribution. </a:t>
            </a:r>
            <a:endParaRPr/>
          </a:p>
        </p:txBody>
      </p:sp>
      <p:pic>
        <p:nvPicPr>
          <p:cNvPr id="399" name="Google Shape;399;p62"/>
          <p:cNvPicPr preferRelativeResize="0"/>
          <p:nvPr/>
        </p:nvPicPr>
        <p:blipFill>
          <a:blip r:embed="rId4">
            <a:alphaModFix/>
          </a:blip>
          <a:stretch>
            <a:fillRect/>
          </a:stretch>
        </p:blipFill>
        <p:spPr>
          <a:xfrm>
            <a:off x="240400" y="1426275"/>
            <a:ext cx="4566851" cy="2991287"/>
          </a:xfrm>
          <a:prstGeom prst="rect">
            <a:avLst/>
          </a:prstGeom>
          <a:noFill/>
          <a:ln>
            <a:noFill/>
          </a:ln>
        </p:spPr>
      </p:pic>
      <p:sp>
        <p:nvSpPr>
          <p:cNvPr id="400" name="Google Shape;400;p62"/>
          <p:cNvSpPr txBox="1"/>
          <p:nvPr/>
        </p:nvSpPr>
        <p:spPr>
          <a:xfrm>
            <a:off x="240400" y="118075"/>
            <a:ext cx="147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Chris Song</a:t>
            </a:r>
            <a:endParaRPr sz="1800">
              <a:solidFill>
                <a:schemeClr val="dk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3"/>
          <p:cNvSpPr txBox="1"/>
          <p:nvPr>
            <p:ph type="title"/>
          </p:nvPr>
        </p:nvSpPr>
        <p:spPr>
          <a:xfrm>
            <a:off x="223675" y="542800"/>
            <a:ext cx="8471400" cy="63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a:t>
            </a:r>
            <a:r>
              <a:rPr lang="en"/>
              <a:t>elationship between Focus and Exercise Duration</a:t>
            </a:r>
            <a:endParaRPr/>
          </a:p>
        </p:txBody>
      </p:sp>
      <p:sp>
        <p:nvSpPr>
          <p:cNvPr id="406" name="Google Shape;406;p63"/>
          <p:cNvSpPr txBox="1"/>
          <p:nvPr>
            <p:ph idx="1" type="body"/>
          </p:nvPr>
        </p:nvSpPr>
        <p:spPr>
          <a:xfrm>
            <a:off x="4480525" y="1379125"/>
            <a:ext cx="4146000" cy="3660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1200"/>
              </a:spcAft>
              <a:buNone/>
            </a:pPr>
            <a:r>
              <a:rPr lang="en"/>
              <a:t>This reflects my hypothesis of 20-60 minutes being a “goldilocks zone” for optimal focus time. The mean focus time for the hypothesis group (20 to 60 minutes of exercise) was 128.0 minutes, which represents the highest average focus achieved across all groups. In contrast, the low-exercise control group (0 to 19 minutes) averaged only 101.25 minutes, and the high-exercise group (&gt;60 minutes) saw the average drop to a low 77.5 minutes. </a:t>
            </a:r>
            <a:r>
              <a:rPr lang="en"/>
              <a:t>The scatter plot </a:t>
            </a:r>
            <a:r>
              <a:rPr lang="en"/>
              <a:t>depicts</a:t>
            </a:r>
            <a:r>
              <a:rPr lang="en"/>
              <a:t> the relationship between exercise and focus duration reinforces this finding, showing that high-focus data points are clustered primarily around the 20 to 60 minute mark on the exercise axis. </a:t>
            </a:r>
            <a:r>
              <a:rPr lang="en"/>
              <a:t>The pattern suggests that optimal focus is achieved within my hypothesis’ specified range. </a:t>
            </a:r>
            <a:r>
              <a:rPr lang="en"/>
              <a:t>Sessions outside this window, especially those lasting over an hour, frequently correlate with the lowest focus durations, likely due to increased physical fatigue, which undermines cognitive performance. </a:t>
            </a:r>
            <a:endParaRPr/>
          </a:p>
        </p:txBody>
      </p:sp>
      <p:pic>
        <p:nvPicPr>
          <p:cNvPr id="407" name="Google Shape;407;p63"/>
          <p:cNvPicPr preferRelativeResize="0"/>
          <p:nvPr/>
        </p:nvPicPr>
        <p:blipFill>
          <a:blip r:embed="rId4">
            <a:alphaModFix/>
          </a:blip>
          <a:stretch>
            <a:fillRect/>
          </a:stretch>
        </p:blipFill>
        <p:spPr>
          <a:xfrm>
            <a:off x="223675" y="1379125"/>
            <a:ext cx="3890900" cy="3416400"/>
          </a:xfrm>
          <a:prstGeom prst="rect">
            <a:avLst/>
          </a:prstGeom>
          <a:noFill/>
          <a:ln>
            <a:noFill/>
          </a:ln>
        </p:spPr>
      </p:pic>
      <p:sp>
        <p:nvSpPr>
          <p:cNvPr id="408" name="Google Shape;408;p63"/>
          <p:cNvSpPr txBox="1"/>
          <p:nvPr/>
        </p:nvSpPr>
        <p:spPr>
          <a:xfrm>
            <a:off x="223675" y="81100"/>
            <a:ext cx="147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Chris Song</a:t>
            </a:r>
            <a:endParaRPr sz="1800">
              <a:solidFill>
                <a:schemeClr val="dk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Chris Song: Journey of being a scientist</a:t>
            </a:r>
            <a:endParaRPr/>
          </a:p>
        </p:txBody>
      </p:sp>
      <p:sp>
        <p:nvSpPr>
          <p:cNvPr id="414" name="Google Shape;414;p64"/>
          <p:cNvSpPr txBox="1"/>
          <p:nvPr>
            <p:ph idx="1" type="body"/>
          </p:nvPr>
        </p:nvSpPr>
        <p:spPr>
          <a:xfrm>
            <a:off x="311700" y="1152475"/>
            <a:ext cx="8520600" cy="38286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en" u="sng"/>
              <a:t>What kind of experimentation you did to improve outcome?</a:t>
            </a:r>
            <a:endParaRPr u="sng"/>
          </a:p>
          <a:p>
            <a:pPr indent="0" lvl="0" marL="0" rtl="0" algn="l">
              <a:spcBef>
                <a:spcPts val="1200"/>
              </a:spcBef>
              <a:spcAft>
                <a:spcPts val="0"/>
              </a:spcAft>
              <a:buClr>
                <a:schemeClr val="dk1"/>
              </a:buClr>
              <a:buSzPct val="61111"/>
              <a:buFont typeface="Arial"/>
              <a:buNone/>
            </a:pPr>
            <a:r>
              <a:rPr lang="en"/>
              <a:t>As the experiment went on, I was more intentional with my days and followed my curiosity that led me to ask questions such as “what matter more: exercise duration or intensity?”, “how much exercise would be ‘enough’?”, “do I need to include more metrics?”. I’ve come to the conclusion that exercise intensity may matter a bit more than duration.</a:t>
            </a:r>
            <a:r>
              <a:rPr lang="en"/>
              <a:t> Although, duration can lead to more intensity, so they share a similar light. I found out that my sweet spot is between my hypothesized 20-60 minutes range, but more specifically a 30-50 minutes of moderate intensity exercise window, before I begin to engage in cognitive tasks. At the end, I inserted an “Energy Level (1-10)” and a “Task Weight (1-5)” column to provide more context to the data because </a:t>
            </a:r>
            <a:r>
              <a:rPr lang="en"/>
              <a:t>this project has opened my eyes to consider more variables when it comes to this hypothesis of mine: 20-60 minutes of exercise will improve concentration. </a:t>
            </a:r>
            <a:r>
              <a:rPr lang="en"/>
              <a:t>These changes, although at the end, improved my data collection </a:t>
            </a:r>
            <a:r>
              <a:rPr lang="en"/>
              <a:t>and </a:t>
            </a:r>
            <a:r>
              <a:rPr lang="en"/>
              <a:t>improved my outcome and the way I approach life.</a:t>
            </a:r>
            <a:r>
              <a:rPr lang="en"/>
              <a:t> </a:t>
            </a:r>
            <a:endParaRPr/>
          </a:p>
          <a:p>
            <a:pPr indent="0" lvl="0" marL="0" rtl="0" algn="l">
              <a:spcBef>
                <a:spcPts val="1200"/>
              </a:spcBef>
              <a:spcAft>
                <a:spcPts val="0"/>
              </a:spcAft>
              <a:buNone/>
            </a:pPr>
            <a:r>
              <a:rPr lang="en" u="sng"/>
              <a:t>What works what does not work </a:t>
            </a:r>
            <a:endParaRPr u="sng"/>
          </a:p>
          <a:p>
            <a:pPr indent="0" lvl="0" marL="0" rtl="0" algn="l">
              <a:spcBef>
                <a:spcPts val="1200"/>
              </a:spcBef>
              <a:spcAft>
                <a:spcPts val="0"/>
              </a:spcAft>
              <a:buClr>
                <a:schemeClr val="dk1"/>
              </a:buClr>
              <a:buSzPct val="61111"/>
              <a:buFont typeface="Arial"/>
              <a:buNone/>
            </a:pPr>
            <a:r>
              <a:rPr lang="en"/>
              <a:t>What worked best for me was being intentional and realizing that the initial hypothesis, while close, wasn't specific enough, but guided me to the true sweet spot of 30 to 50 minutes of moderate intensity exercise. This confirmed that intensity matters a bit more than duration for priming the brain. This moderate range was far more effective than the extremes, where exercising for too long (over 60 minutes) proved detrimental, leading to my lowest focus times due to fatigue. The biggest improvement to the project's outcome wasn't a finding about exercise itself, but the realization that other variables matter—prompting me to add the "Energy Level" and "Task Weight" metrics—which improved my overall data collection and approach to life.</a:t>
            </a:r>
            <a:endParaRPr/>
          </a:p>
          <a:p>
            <a:pPr indent="0" lvl="0" marL="0" rtl="0" algn="l">
              <a:spcBef>
                <a:spcPts val="1200"/>
              </a:spcBef>
              <a:spcAft>
                <a:spcPts val="0"/>
              </a:spcAft>
              <a:buNone/>
            </a:pPr>
            <a:r>
              <a:rPr lang="en" u="sng"/>
              <a:t>What is one message you want to send to your peer regarding improving outcome</a:t>
            </a:r>
            <a:endParaRPr u="sng"/>
          </a:p>
          <a:p>
            <a:pPr indent="0" lvl="0" marL="0" rtl="0" algn="l">
              <a:spcBef>
                <a:spcPts val="1200"/>
              </a:spcBef>
              <a:spcAft>
                <a:spcPts val="1200"/>
              </a:spcAft>
              <a:buNone/>
            </a:pPr>
            <a:r>
              <a:rPr lang="en"/>
              <a:t>Treat your data collection </a:t>
            </a:r>
            <a:r>
              <a:rPr lang="en"/>
              <a:t>like an experiment and be curious about your variables so you can find your “sweet spot”. </a:t>
            </a:r>
            <a:r>
              <a:rPr lang="en"/>
              <a:t>If not exercise, moving around like walking for a 10-30 minutes before working on any task may improve your focus, so try a movement/exercise and see what works for you.</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5"/>
          <p:cNvSpPr txBox="1"/>
          <p:nvPr>
            <p:ph type="title"/>
          </p:nvPr>
        </p:nvSpPr>
        <p:spPr>
          <a:xfrm>
            <a:off x="77025" y="54425"/>
            <a:ext cx="2125200" cy="40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9010"/>
              <a:buNone/>
            </a:pPr>
            <a:r>
              <a:rPr lang="en" sz="2020"/>
              <a:t>Group Reflection</a:t>
            </a:r>
            <a:endParaRPr sz="2020"/>
          </a:p>
        </p:txBody>
      </p:sp>
      <p:sp>
        <p:nvSpPr>
          <p:cNvPr id="420" name="Google Shape;420;p65"/>
          <p:cNvSpPr txBox="1"/>
          <p:nvPr>
            <p:ph idx="1" type="body"/>
          </p:nvPr>
        </p:nvSpPr>
        <p:spPr>
          <a:xfrm>
            <a:off x="77025" y="354300"/>
            <a:ext cx="8608200" cy="4789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3"/>
              <a:buNone/>
            </a:pPr>
            <a:r>
              <a:rPr lang="en" sz="900"/>
              <a:t>DT: </a:t>
            </a:r>
            <a:endParaRPr sz="900"/>
          </a:p>
          <a:p>
            <a:pPr indent="-285750" lvl="0" marL="457200" rtl="0" algn="l">
              <a:lnSpc>
                <a:spcPct val="95000"/>
              </a:lnSpc>
              <a:spcBef>
                <a:spcPts val="1200"/>
              </a:spcBef>
              <a:spcAft>
                <a:spcPts val="0"/>
              </a:spcAft>
              <a:buSzPts val="900"/>
              <a:buChar char="-"/>
            </a:pPr>
            <a:r>
              <a:rPr lang="en" sz="900"/>
              <a:t>Chris’s experiments are always thorough and very meticulous. I always felt energized and motivated seeing his data, because of how well-made it is; I could see the effort put in, which made me want to match that energy. Chris reflections taught me a lot about the benefits of exercise. I would like to incorporate more physical routine in my life, and maybe I would like to incorporate it into my tracksheet, to see how it can affect my existing data. I hope Chris continues to improve his focus and do his exercise, because that is a very healthy habit, and overall, </a:t>
            </a:r>
            <a:r>
              <a:rPr lang="en" sz="900"/>
              <a:t>his data collection was well made.</a:t>
            </a:r>
            <a:endParaRPr sz="900"/>
          </a:p>
          <a:p>
            <a:pPr indent="-285750" lvl="0" marL="457200" rtl="0" algn="l">
              <a:lnSpc>
                <a:spcPct val="95000"/>
              </a:lnSpc>
              <a:spcBef>
                <a:spcPts val="0"/>
              </a:spcBef>
              <a:spcAft>
                <a:spcPts val="0"/>
              </a:spcAft>
              <a:buSzPts val="900"/>
              <a:buChar char="-"/>
            </a:pPr>
            <a:r>
              <a:rPr lang="en" sz="900"/>
              <a:t>Steven experiments were organized and very </a:t>
            </a:r>
            <a:r>
              <a:rPr lang="en" sz="900"/>
              <a:t>precise</a:t>
            </a:r>
            <a:r>
              <a:rPr lang="en" sz="900"/>
              <a:t>, because of how </a:t>
            </a:r>
            <a:r>
              <a:rPr lang="en" sz="900"/>
              <a:t>similar</a:t>
            </a:r>
            <a:r>
              <a:rPr lang="en" sz="900"/>
              <a:t> our variables was, he gave me advice on how to improve data collection. </a:t>
            </a:r>
            <a:r>
              <a:rPr lang="en" sz="900"/>
              <a:t>His plots and graphs were very informative, and it </a:t>
            </a:r>
            <a:r>
              <a:rPr lang="en" sz="900"/>
              <a:t>inspired</a:t>
            </a:r>
            <a:r>
              <a:rPr lang="en" sz="900"/>
              <a:t> me to try to do something </a:t>
            </a:r>
            <a:r>
              <a:rPr lang="en" sz="900"/>
              <a:t>similar</a:t>
            </a:r>
            <a:r>
              <a:rPr lang="en" sz="900"/>
              <a:t>. Steven did a great job with his reflections and graphs, and helped me out a lot throughout these weeks, I am very </a:t>
            </a:r>
            <a:r>
              <a:rPr lang="en" sz="900"/>
              <a:t>grateful</a:t>
            </a:r>
            <a:r>
              <a:rPr lang="en" sz="900"/>
              <a:t> for him, and I wish him the best of luck.</a:t>
            </a:r>
            <a:endParaRPr sz="900"/>
          </a:p>
          <a:p>
            <a:pPr indent="0" lvl="0" marL="0" rtl="0" algn="l">
              <a:lnSpc>
                <a:spcPct val="95000"/>
              </a:lnSpc>
              <a:spcBef>
                <a:spcPts val="1200"/>
              </a:spcBef>
              <a:spcAft>
                <a:spcPts val="0"/>
              </a:spcAft>
              <a:buSzPts val="853"/>
              <a:buNone/>
            </a:pPr>
            <a:r>
              <a:rPr lang="en" sz="900"/>
              <a:t>Chris:</a:t>
            </a:r>
            <a:endParaRPr sz="900"/>
          </a:p>
          <a:p>
            <a:pPr indent="-285750" lvl="0" marL="457200" rtl="0" algn="l">
              <a:lnSpc>
                <a:spcPct val="95000"/>
              </a:lnSpc>
              <a:spcBef>
                <a:spcPts val="1200"/>
              </a:spcBef>
              <a:spcAft>
                <a:spcPts val="0"/>
              </a:spcAft>
              <a:buSzPts val="900"/>
              <a:buChar char="-"/>
            </a:pPr>
            <a:r>
              <a:rPr lang="en" sz="900"/>
              <a:t>Steven’s </a:t>
            </a:r>
            <a:r>
              <a:rPr lang="en" sz="900"/>
              <a:t>experiment</a:t>
            </a:r>
            <a:r>
              <a:rPr lang="en" sz="900"/>
              <a:t> was well documented and it was interesting to see his variables change throughout the experiment. Seeing the difference and parallels to his </a:t>
            </a:r>
            <a:r>
              <a:rPr lang="en" sz="900"/>
              <a:t>caffeine intake between energy and productivity gave me insight to not just his life but how I can potentially view caffeine in my life. I am not an avid caffeine user, but I have noticed that some days it help and other days it doesn’t and </a:t>
            </a:r>
            <a:r>
              <a:rPr lang="en" sz="900"/>
              <a:t>I could use his data as another perspective to consider.</a:t>
            </a:r>
            <a:r>
              <a:rPr lang="en" sz="900"/>
              <a:t> A piece of advice I would give is to keep the consistent sleep schedule and to find intrinsic motivators to be more productive. Your work is very thorough and concise, so I hope to see more of that in the future! </a:t>
            </a:r>
            <a:endParaRPr sz="900"/>
          </a:p>
          <a:p>
            <a:pPr indent="-285750" lvl="0" marL="457200" rtl="0" algn="l">
              <a:lnSpc>
                <a:spcPct val="95000"/>
              </a:lnSpc>
              <a:spcBef>
                <a:spcPts val="0"/>
              </a:spcBef>
              <a:spcAft>
                <a:spcPts val="0"/>
              </a:spcAft>
              <a:buSzPts val="900"/>
              <a:buChar char="-"/>
            </a:pPr>
            <a:r>
              <a:rPr lang="en" sz="900"/>
              <a:t>DT’s experiment was adjacent to Steven’s experiment in which he hypothesized that more sleep would lead to more energy which leads to productivity gains. In a similar light, his energy did not determine whether he was productive or not.</a:t>
            </a:r>
            <a:r>
              <a:rPr lang="en" sz="900"/>
              <a:t> I learned that energy may not be that much of a factor when it comes to productivity from these two</a:t>
            </a:r>
            <a:r>
              <a:rPr lang="en" sz="900"/>
              <a:t>. </a:t>
            </a:r>
            <a:r>
              <a:rPr lang="en" sz="900"/>
              <a:t>I’d recommend for him the same thing I said to Steven- to find intrinsic meaning behind the work to be more productive. Your data collection was neat, hope you up the good work!</a:t>
            </a:r>
            <a:endParaRPr sz="900"/>
          </a:p>
          <a:p>
            <a:pPr indent="0" lvl="0" marL="0" rtl="0" algn="l">
              <a:lnSpc>
                <a:spcPct val="95000"/>
              </a:lnSpc>
              <a:spcBef>
                <a:spcPts val="1200"/>
              </a:spcBef>
              <a:spcAft>
                <a:spcPts val="0"/>
              </a:spcAft>
              <a:buNone/>
            </a:pPr>
            <a:r>
              <a:rPr lang="en" sz="900"/>
              <a:t>Steven</a:t>
            </a:r>
            <a:endParaRPr sz="900"/>
          </a:p>
          <a:p>
            <a:pPr indent="-285750" lvl="0" marL="457200" rtl="0" algn="l">
              <a:lnSpc>
                <a:spcPct val="95000"/>
              </a:lnSpc>
              <a:spcBef>
                <a:spcPts val="1200"/>
              </a:spcBef>
              <a:spcAft>
                <a:spcPts val="0"/>
              </a:spcAft>
              <a:buSzPts val="900"/>
              <a:buChar char="-"/>
            </a:pPr>
            <a:r>
              <a:rPr lang="en" sz="900"/>
              <a:t>Chris had intentionally increase his focus throughout this project. I do believe that this is a good thing. Being more focused is good, and it is interesting to see how he made reflections on how his focus related to other parts of his life, such as exercise intensity. Chris also found his optimal exercise duration (20-60 minutes) to be the most helpful to him. </a:t>
            </a:r>
            <a:r>
              <a:rPr lang="en" sz="900"/>
              <a:t>I would want to implement this into my daily routine to see if it helps me as well. I find Chris’s lifestyle as very inspiring. Keep up the good work!</a:t>
            </a:r>
            <a:endParaRPr sz="900"/>
          </a:p>
          <a:p>
            <a:pPr indent="-285750" lvl="0" marL="457200" rtl="0" algn="l">
              <a:lnSpc>
                <a:spcPct val="95000"/>
              </a:lnSpc>
              <a:spcBef>
                <a:spcPts val="0"/>
              </a:spcBef>
              <a:spcAft>
                <a:spcPts val="0"/>
              </a:spcAft>
              <a:buSzPts val="900"/>
              <a:buChar char="-"/>
            </a:pPr>
            <a:r>
              <a:rPr lang="en" sz="900"/>
              <a:t>DT’s experiment focus and results were similar to mine in the aspect that his productivity was not determined by his energy. I believe our productivity is heavily influenced by external factors rather than our energy</a:t>
            </a:r>
            <a:r>
              <a:rPr lang="en" sz="900"/>
              <a:t>. We feel the need to be more productive at certain times, such as before exams. This seems like our priority on being productive is not very high, since we do not have a general motivation to be productive. I wish DT the best of luck!</a:t>
            </a:r>
            <a:endParaRPr sz="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